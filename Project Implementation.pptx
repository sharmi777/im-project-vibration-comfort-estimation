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Gotham Bold" panose="020B0604020202020204" charset="0"/>
      <p:regular r:id="rId14"/>
    </p:embeddedFont>
    <p:embeddedFont>
      <p:font typeface="Literata" panose="020B0604020202020204" charset="0"/>
      <p:regular r:id="rId15"/>
    </p:embeddedFont>
    <p:embeddedFont>
      <p:font typeface="Nunito" pitchFamily="2" charset="0"/>
      <p:regular r:id="rId16"/>
    </p:embeddedFont>
    <p:embeddedFont>
      <p:font typeface="Poppins" panose="00000500000000000000" pitchFamily="2" charset="0"/>
      <p:regular r:id="rId17"/>
    </p:embeddedFont>
    <p:embeddedFont>
      <p:font typeface="Poppins Bold" panose="00000800000000000000" charset="0"/>
      <p:regular r:id="rId18"/>
    </p:embeddedFont>
    <p:embeddedFont>
      <p:font typeface="Poppins Light" panose="00000400000000000000" pitchFamily="2" charset="0"/>
      <p:regular r:id="rId19"/>
    </p:embeddedFont>
    <p:embeddedFont>
      <p:font typeface="Poppins Medium" panose="00000600000000000000" pitchFamily="2"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Higher Magnitude → longer shaking duration and richer low-frequency content. </a:t>
            </a:r>
          </a:p>
          <a:p>
            <a:r>
              <a:rPr lang="en-US"/>
              <a:t>This feature is used in the regression model (log-domain correlation with WAL). </a:t>
            </a:r>
          </a:p>
          <a:p>
            <a:endParaRPr lang="en-US"/>
          </a:p>
          <a:p>
            <a:r>
              <a:rPr lang="en-US"/>
              <a:t>Soft soils amplify long-period energy. Controls frequency-dependent amplification of the signal before it arrives at the shake table foundation. Used as log(Vs30) feature in regression.</a:t>
            </a:r>
          </a:p>
          <a:p>
            <a:endParaRPr lang="en-US"/>
          </a:p>
          <a:p>
            <a:r>
              <a:rPr lang="en-US"/>
              <a:t>Used as log(distance+1) feature to capture attenuation effects on PGA.</a:t>
            </a:r>
          </a:p>
          <a:p>
            <a:endParaRPr lang="en-US"/>
          </a:p>
          <a:p>
            <a:r>
              <a:rPr lang="en-US"/>
              <a:t>Shallow events (&lt;20 km) produce more impulsive, high-frequency records; deep events have longer travel paths. Affects the frequency content and duration of the record. Not a direct regression feature.</a:t>
            </a:r>
          </a:p>
          <a:p>
            <a:endParaRPr lang="en-US"/>
          </a:p>
          <a:p>
            <a:r>
              <a:rPr lang="en-US"/>
              <a:t>Records shorter than 60 s will be zero-padded; longer records are cropped around the PGA peak to a 60 s window as per pre-processing methodology of paper. The paper requires all inputs to the 1D-CNN to be exactly 3 000 time steps (60 s × 50 Hz). This column tells how much padding or cropping is needed.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raw, un-normalised scalar value of the strongest acceleration in the horizontal X channel. Primary regression feature. PGA_X directly controls the energy input to the structure and is the strongest predictor of WAL at all 9 measuring points.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During dataset generation, the ay and az were generated as a random ratio of ax and hence are linearly depenedent on it.</a:t>
            </a:r>
          </a:p>
          <a:p>
            <a:endParaRPr lang="en-US"/>
          </a:p>
          <a:p>
            <a:r>
              <a:rPr lang="en-US"/>
              <a:t>So for linear regression, these features are not included in the feature list as it makes the linear regression split the effect of WAL change on x,y,z values when only x is the independent reading.</a:t>
            </a:r>
          </a:p>
          <a:p>
            <a:endParaRPr lang="en-US"/>
          </a:p>
          <a:p>
            <a:r>
              <a:rPr lang="en-US"/>
              <a:t>Removing these two features makes our featutre list smaller and more efficient but the MAPE remains same. This is however not the case for real earthquake signals in which all three are indepndent</a:t>
            </a:r>
          </a:p>
          <a:p>
            <a:endParaRPr lang="en-US"/>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During dataset generation, the ay and az were generated as a random ratio of ax and hence are linearly depenedent on it.</a:t>
            </a:r>
          </a:p>
          <a:p>
            <a:endParaRPr lang="en-US"/>
          </a:p>
          <a:p>
            <a:r>
              <a:rPr lang="en-US"/>
              <a:t>So for linear regression, these features are not included in the feature list as it makes the linear regression split the effect of WAL change on x,y,z values when only x is the independent reading.</a:t>
            </a:r>
          </a:p>
          <a:p>
            <a:endParaRPr lang="en-US"/>
          </a:p>
          <a:p>
            <a:r>
              <a:rPr lang="en-US"/>
              <a:t>Removing these two features makes our featutre list smaller and more efficient but the MAPE remains same. This is however not the case for real earthquake signals in which all three are indepndent</a:t>
            </a:r>
          </a:p>
          <a:p>
            <a:endParaRPr lang="en-US"/>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30768" y="4646344"/>
            <a:ext cx="5455035" cy="5106842"/>
            <a:chOff x="0" y="0"/>
            <a:chExt cx="596900" cy="558800"/>
          </a:xfrm>
        </p:grpSpPr>
        <p:sp>
          <p:nvSpPr>
            <p:cNvPr id="3" name="Freeform 3"/>
            <p:cNvSpPr/>
            <p:nvPr/>
          </p:nvSpPr>
          <p:spPr>
            <a:xfrm>
              <a:off x="0" y="0"/>
              <a:ext cx="596900" cy="558800"/>
            </a:xfrm>
            <a:custGeom>
              <a:avLst/>
              <a:gdLst/>
              <a:ahLst/>
              <a:cxnLst/>
              <a:rect l="l" t="t" r="r" b="b"/>
              <a:pathLst>
                <a:path w="596900" h="5588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4626760" y="5534027"/>
            <a:ext cx="2765738" cy="2589201"/>
            <a:chOff x="0" y="0"/>
            <a:chExt cx="596900" cy="558800"/>
          </a:xfrm>
        </p:grpSpPr>
        <p:sp>
          <p:nvSpPr>
            <p:cNvPr id="6" name="Freeform 6"/>
            <p:cNvSpPr/>
            <p:nvPr/>
          </p:nvSpPr>
          <p:spPr>
            <a:xfrm>
              <a:off x="0" y="0"/>
              <a:ext cx="596900" cy="558800"/>
            </a:xfrm>
            <a:custGeom>
              <a:avLst/>
              <a:gdLst/>
              <a:ahLst/>
              <a:cxnLst/>
              <a:rect l="l" t="t" r="r" b="b"/>
              <a:pathLst>
                <a:path w="596900" h="5588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4225979" y="8542449"/>
            <a:ext cx="4218545" cy="3949276"/>
            <a:chOff x="0" y="0"/>
            <a:chExt cx="596900" cy="558800"/>
          </a:xfrm>
        </p:grpSpPr>
        <p:sp>
          <p:nvSpPr>
            <p:cNvPr id="9" name="Freeform 9"/>
            <p:cNvSpPr/>
            <p:nvPr/>
          </p:nvSpPr>
          <p:spPr>
            <a:xfrm>
              <a:off x="0" y="0"/>
              <a:ext cx="596900" cy="558800"/>
            </a:xfrm>
            <a:custGeom>
              <a:avLst/>
              <a:gdLst/>
              <a:ahLst/>
              <a:cxnLst/>
              <a:rect l="l" t="t" r="r" b="b"/>
              <a:pathLst>
                <a:path w="596900" h="558800">
                  <a:moveTo>
                    <a:pt x="596900" y="21564"/>
                  </a:moveTo>
                  <a:lnTo>
                    <a:pt x="596900" y="283236"/>
                  </a:lnTo>
                  <a:cubicBezTo>
                    <a:pt x="596900" y="297006"/>
                    <a:pt x="591256" y="310175"/>
                    <a:pt x="581285" y="319672"/>
                  </a:cubicBezTo>
                  <a:lnTo>
                    <a:pt x="345815" y="543928"/>
                  </a:lnTo>
                  <a:cubicBezTo>
                    <a:pt x="335791" y="553475"/>
                    <a:pt x="322479" y="558800"/>
                    <a:pt x="308636" y="558800"/>
                  </a:cubicBezTo>
                  <a:lnTo>
                    <a:pt x="21564" y="558800"/>
                  </a:lnTo>
                  <a:cubicBezTo>
                    <a:pt x="9654" y="558800"/>
                    <a:pt x="0" y="549146"/>
                    <a:pt x="0" y="537236"/>
                  </a:cubicBezTo>
                  <a:lnTo>
                    <a:pt x="0" y="270484"/>
                  </a:lnTo>
                  <a:cubicBezTo>
                    <a:pt x="0" y="256718"/>
                    <a:pt x="5662" y="243558"/>
                    <a:pt x="15658" y="234094"/>
                  </a:cubicBezTo>
                  <a:lnTo>
                    <a:pt x="247232" y="14826"/>
                  </a:lnTo>
                  <a:cubicBezTo>
                    <a:pt x="257286" y="5306"/>
                    <a:pt x="270607" y="0"/>
                    <a:pt x="284454" y="0"/>
                  </a:cubicBezTo>
                  <a:lnTo>
                    <a:pt x="575336" y="0"/>
                  </a:lnTo>
                  <a:cubicBezTo>
                    <a:pt x="587246" y="0"/>
                    <a:pt x="596900" y="9654"/>
                    <a:pt x="596900" y="21564"/>
                  </a:cubicBezTo>
                  <a:close/>
                </a:path>
              </a:pathLst>
            </a:custGeom>
            <a:solidFill>
              <a:srgbClr val="014AAB">
                <a:alpha val="5882"/>
              </a:srgbClr>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536217" y="-2945919"/>
            <a:ext cx="6321001" cy="5917533"/>
            <a:chOff x="0" y="0"/>
            <a:chExt cx="596900" cy="558800"/>
          </a:xfrm>
        </p:grpSpPr>
        <p:sp>
          <p:nvSpPr>
            <p:cNvPr id="12" name="Freeform 12"/>
            <p:cNvSpPr/>
            <p:nvPr/>
          </p:nvSpPr>
          <p:spPr>
            <a:xfrm>
              <a:off x="0" y="0"/>
              <a:ext cx="596900" cy="558800"/>
            </a:xfrm>
            <a:custGeom>
              <a:avLst/>
              <a:gdLst/>
              <a:ahLst/>
              <a:cxnLst/>
              <a:rect l="l" t="t" r="r" b="b"/>
              <a:pathLst>
                <a:path w="596900" h="5588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id="13" name="TextBox 13"/>
            <p:cNvSpPr txBox="1"/>
            <p:nvPr/>
          </p:nvSpPr>
          <p:spPr>
            <a:xfrm>
              <a:off x="101600" y="123825"/>
              <a:ext cx="393700" cy="302895"/>
            </a:xfrm>
            <a:prstGeom prst="rect">
              <a:avLst/>
            </a:prstGeom>
          </p:spPr>
          <p:txBody>
            <a:bodyPr lIns="50800" tIns="50800" rIns="50800" bIns="50800" rtlCol="0" anchor="ctr"/>
            <a:lstStyle/>
            <a:p>
              <a:pPr algn="ctr">
                <a:lnSpc>
                  <a:spcPts val="104"/>
                </a:lnSpc>
              </a:pPr>
              <a:endParaRPr/>
            </a:p>
          </p:txBody>
        </p:sp>
      </p:grpSp>
      <p:grpSp>
        <p:nvGrpSpPr>
          <p:cNvPr id="14" name="Group 14"/>
          <p:cNvGrpSpPr/>
          <p:nvPr/>
        </p:nvGrpSpPr>
        <p:grpSpPr>
          <a:xfrm rot="-10800000">
            <a:off x="13810359" y="-3147653"/>
            <a:ext cx="4531224" cy="4241997"/>
            <a:chOff x="0" y="0"/>
            <a:chExt cx="596900" cy="558800"/>
          </a:xfrm>
        </p:grpSpPr>
        <p:sp>
          <p:nvSpPr>
            <p:cNvPr id="15" name="Freeform 15"/>
            <p:cNvSpPr/>
            <p:nvPr/>
          </p:nvSpPr>
          <p:spPr>
            <a:xfrm>
              <a:off x="0" y="0"/>
              <a:ext cx="596900" cy="558800"/>
            </a:xfrm>
            <a:custGeom>
              <a:avLst/>
              <a:gdLst/>
              <a:ahLst/>
              <a:cxnLst/>
              <a:rect l="l" t="t" r="r" b="b"/>
              <a:pathLst>
                <a:path w="596900" h="5588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id="16" name="TextBox 16"/>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a:off x="9634197" y="543858"/>
            <a:ext cx="3762996" cy="3522804"/>
            <a:chOff x="0" y="0"/>
            <a:chExt cx="596900" cy="558800"/>
          </a:xfrm>
        </p:grpSpPr>
        <p:sp>
          <p:nvSpPr>
            <p:cNvPr id="18" name="Freeform 18"/>
            <p:cNvSpPr/>
            <p:nvPr/>
          </p:nvSpPr>
          <p:spPr>
            <a:xfrm>
              <a:off x="0" y="0"/>
              <a:ext cx="596900" cy="558800"/>
            </a:xfrm>
            <a:custGeom>
              <a:avLst/>
              <a:gdLst/>
              <a:ahLst/>
              <a:cxnLst/>
              <a:rect l="l" t="t" r="r" b="b"/>
              <a:pathLst>
                <a:path w="596900" h="5588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FE9710"/>
            </a:solidFill>
          </p:spPr>
        </p:sp>
        <p:sp>
          <p:nvSpPr>
            <p:cNvPr id="19" name="TextBox 19"/>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a:off x="15147937" y="1323502"/>
            <a:ext cx="2737867" cy="2563109"/>
            <a:chOff x="0" y="0"/>
            <a:chExt cx="596900" cy="558800"/>
          </a:xfrm>
        </p:grpSpPr>
        <p:sp>
          <p:nvSpPr>
            <p:cNvPr id="21" name="Freeform 21"/>
            <p:cNvSpPr/>
            <p:nvPr/>
          </p:nvSpPr>
          <p:spPr>
            <a:xfrm>
              <a:off x="0" y="0"/>
              <a:ext cx="596900" cy="558800"/>
            </a:xfrm>
            <a:custGeom>
              <a:avLst/>
              <a:gdLst/>
              <a:ahLst/>
              <a:cxnLst/>
              <a:rect l="l" t="t" r="r" b="b"/>
              <a:pathLst>
                <a:path w="596900" h="5588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id="22" name="TextBox 22"/>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23" name="Group 23"/>
          <p:cNvGrpSpPr/>
          <p:nvPr/>
        </p:nvGrpSpPr>
        <p:grpSpPr>
          <a:xfrm rot="5400000">
            <a:off x="9551409" y="7241939"/>
            <a:ext cx="2594035" cy="2428459"/>
            <a:chOff x="0" y="0"/>
            <a:chExt cx="596900" cy="558800"/>
          </a:xfrm>
        </p:grpSpPr>
        <p:sp>
          <p:nvSpPr>
            <p:cNvPr id="24" name="Freeform 24"/>
            <p:cNvSpPr/>
            <p:nvPr/>
          </p:nvSpPr>
          <p:spPr>
            <a:xfrm>
              <a:off x="0" y="0"/>
              <a:ext cx="596900" cy="558800"/>
            </a:xfrm>
            <a:custGeom>
              <a:avLst/>
              <a:gdLst/>
              <a:ahLst/>
              <a:cxnLst/>
              <a:rect l="l" t="t" r="r" b="b"/>
              <a:pathLst>
                <a:path w="596900" h="5588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FE9710"/>
            </a:solidFill>
          </p:spPr>
        </p:sp>
        <p:sp>
          <p:nvSpPr>
            <p:cNvPr id="25" name="TextBox 25"/>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26" name="Group 26"/>
          <p:cNvGrpSpPr/>
          <p:nvPr/>
        </p:nvGrpSpPr>
        <p:grpSpPr>
          <a:xfrm>
            <a:off x="10523711" y="1294169"/>
            <a:ext cx="6935129" cy="5905596"/>
            <a:chOff x="0" y="0"/>
            <a:chExt cx="1460623" cy="1243791"/>
          </a:xfrm>
        </p:grpSpPr>
        <p:sp>
          <p:nvSpPr>
            <p:cNvPr id="27" name="Freeform 27"/>
            <p:cNvSpPr/>
            <p:nvPr/>
          </p:nvSpPr>
          <p:spPr>
            <a:xfrm>
              <a:off x="0" y="0"/>
              <a:ext cx="1460627" cy="1243791"/>
            </a:xfrm>
            <a:custGeom>
              <a:avLst/>
              <a:gdLst/>
              <a:ahLst/>
              <a:cxnLst/>
              <a:rect l="l" t="t" r="r" b="b"/>
              <a:pathLst>
                <a:path w="1460627" h="1243791">
                  <a:moveTo>
                    <a:pt x="1046362" y="38122"/>
                  </a:moveTo>
                  <a:cubicBezTo>
                    <a:pt x="1024662" y="13865"/>
                    <a:pt x="993657" y="0"/>
                    <a:pt x="961111" y="0"/>
                  </a:cubicBezTo>
                  <a:lnTo>
                    <a:pt x="114385" y="0"/>
                  </a:lnTo>
                  <a:cubicBezTo>
                    <a:pt x="51213" y="1"/>
                    <a:pt x="1" y="51211"/>
                    <a:pt x="0" y="114384"/>
                  </a:cubicBezTo>
                  <a:lnTo>
                    <a:pt x="0" y="501214"/>
                  </a:lnTo>
                  <a:lnTo>
                    <a:pt x="0" y="795306"/>
                  </a:lnTo>
                  <a:cubicBezTo>
                    <a:pt x="0" y="858478"/>
                    <a:pt x="51211" y="909690"/>
                    <a:pt x="114384" y="909690"/>
                  </a:cubicBezTo>
                  <a:lnTo>
                    <a:pt x="587586" y="909690"/>
                  </a:lnTo>
                  <a:cubicBezTo>
                    <a:pt x="620132" y="909690"/>
                    <a:pt x="651138" y="923554"/>
                    <a:pt x="672837" y="947811"/>
                  </a:cubicBezTo>
                  <a:lnTo>
                    <a:pt x="903501" y="1205669"/>
                  </a:lnTo>
                  <a:cubicBezTo>
                    <a:pt x="925201" y="1229927"/>
                    <a:pt x="956207" y="1243791"/>
                    <a:pt x="988753" y="1243791"/>
                  </a:cubicBezTo>
                  <a:lnTo>
                    <a:pt x="1346239" y="1243791"/>
                  </a:lnTo>
                  <a:cubicBezTo>
                    <a:pt x="1376576" y="1243792"/>
                    <a:pt x="1405670" y="1231742"/>
                    <a:pt x="1427122" y="1210291"/>
                  </a:cubicBezTo>
                  <a:cubicBezTo>
                    <a:pt x="1448574" y="1188841"/>
                    <a:pt x="1460626" y="1159748"/>
                    <a:pt x="1460627" y="1129411"/>
                  </a:cubicBezTo>
                  <a:lnTo>
                    <a:pt x="1460627" y="562247"/>
                  </a:lnTo>
                  <a:cubicBezTo>
                    <a:pt x="1460627" y="522943"/>
                    <a:pt x="1446140" y="485019"/>
                    <a:pt x="1419935" y="455726"/>
                  </a:cubicBezTo>
                  <a:close/>
                </a:path>
              </a:pathLst>
            </a:custGeom>
            <a:blipFill>
              <a:blip r:embed="rId2"/>
              <a:stretch>
                <a:fillRect l="-24679" r="-24679"/>
              </a:stretch>
            </a:blipFill>
            <a:ln w="142875" cap="sq">
              <a:solidFill>
                <a:srgbClr val="000000"/>
              </a:solidFill>
              <a:prstDash val="solid"/>
              <a:miter/>
            </a:ln>
          </p:spPr>
        </p:sp>
      </p:grpSp>
      <p:grpSp>
        <p:nvGrpSpPr>
          <p:cNvPr id="28" name="Group 28"/>
          <p:cNvGrpSpPr/>
          <p:nvPr/>
        </p:nvGrpSpPr>
        <p:grpSpPr>
          <a:xfrm>
            <a:off x="9034205" y="5971469"/>
            <a:ext cx="5257565" cy="2731701"/>
            <a:chOff x="0" y="0"/>
            <a:chExt cx="1657619" cy="861258"/>
          </a:xfrm>
        </p:grpSpPr>
        <p:sp>
          <p:nvSpPr>
            <p:cNvPr id="29" name="Freeform 29"/>
            <p:cNvSpPr/>
            <p:nvPr/>
          </p:nvSpPr>
          <p:spPr>
            <a:xfrm>
              <a:off x="0" y="0"/>
              <a:ext cx="1657622" cy="861258"/>
            </a:xfrm>
            <a:custGeom>
              <a:avLst/>
              <a:gdLst/>
              <a:ahLst/>
              <a:cxnLst/>
              <a:rect l="l" t="t" r="r" b="b"/>
              <a:pathLst>
                <a:path w="1657622" h="861258">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t="-3932" b="-3932"/>
              </a:stretch>
            </a:blipFill>
            <a:ln w="142875" cap="sq">
              <a:solidFill>
                <a:srgbClr val="000000"/>
              </a:solidFill>
              <a:prstDash val="solid"/>
              <a:miter/>
            </a:ln>
          </p:spPr>
        </p:sp>
      </p:grpSp>
      <p:grpSp>
        <p:nvGrpSpPr>
          <p:cNvPr id="30" name="Group 30"/>
          <p:cNvGrpSpPr/>
          <p:nvPr/>
        </p:nvGrpSpPr>
        <p:grpSpPr>
          <a:xfrm rot="-10800000">
            <a:off x="434333" y="2708034"/>
            <a:ext cx="8468832" cy="5092116"/>
            <a:chOff x="0" y="0"/>
            <a:chExt cx="2126625" cy="1278691"/>
          </a:xfrm>
        </p:grpSpPr>
        <p:sp>
          <p:nvSpPr>
            <p:cNvPr id="31" name="Freeform 31"/>
            <p:cNvSpPr/>
            <p:nvPr/>
          </p:nvSpPr>
          <p:spPr>
            <a:xfrm>
              <a:off x="0" y="0"/>
              <a:ext cx="2126625" cy="1278691"/>
            </a:xfrm>
            <a:custGeom>
              <a:avLst/>
              <a:gdLst/>
              <a:ahLst/>
              <a:cxnLst/>
              <a:rect l="l" t="t" r="r" b="b"/>
              <a:pathLst>
                <a:path w="2126625" h="1278691">
                  <a:moveTo>
                    <a:pt x="91417" y="0"/>
                  </a:moveTo>
                  <a:lnTo>
                    <a:pt x="2035208" y="0"/>
                  </a:lnTo>
                  <a:cubicBezTo>
                    <a:pt x="2059453" y="0"/>
                    <a:pt x="2082706" y="9631"/>
                    <a:pt x="2099850" y="26775"/>
                  </a:cubicBezTo>
                  <a:cubicBezTo>
                    <a:pt x="2116993" y="43919"/>
                    <a:pt x="2126625" y="67171"/>
                    <a:pt x="2126625" y="91417"/>
                  </a:cubicBezTo>
                  <a:lnTo>
                    <a:pt x="2126625" y="1187274"/>
                  </a:lnTo>
                  <a:cubicBezTo>
                    <a:pt x="2126625" y="1237762"/>
                    <a:pt x="2085696" y="1278691"/>
                    <a:pt x="2035208" y="1278691"/>
                  </a:cubicBezTo>
                  <a:lnTo>
                    <a:pt x="91417" y="1278691"/>
                  </a:lnTo>
                  <a:cubicBezTo>
                    <a:pt x="40929" y="1278691"/>
                    <a:pt x="0" y="1237762"/>
                    <a:pt x="0" y="1187274"/>
                  </a:cubicBezTo>
                  <a:lnTo>
                    <a:pt x="0" y="91417"/>
                  </a:lnTo>
                  <a:cubicBezTo>
                    <a:pt x="0" y="40929"/>
                    <a:pt x="40929" y="0"/>
                    <a:pt x="91417" y="0"/>
                  </a:cubicBezTo>
                  <a:close/>
                </a:path>
              </a:pathLst>
            </a:custGeom>
            <a:solidFill>
              <a:srgbClr val="014AAB"/>
            </a:solidFill>
          </p:spPr>
        </p:sp>
        <p:sp>
          <p:nvSpPr>
            <p:cNvPr id="32" name="TextBox 32"/>
            <p:cNvSpPr txBox="1"/>
            <p:nvPr/>
          </p:nvSpPr>
          <p:spPr>
            <a:xfrm>
              <a:off x="0" y="-47625"/>
              <a:ext cx="2126625" cy="1326316"/>
            </a:xfrm>
            <a:prstGeom prst="rect">
              <a:avLst/>
            </a:prstGeom>
          </p:spPr>
          <p:txBody>
            <a:bodyPr lIns="50800" tIns="50800" rIns="50800" bIns="50800" rtlCol="0" anchor="ctr"/>
            <a:lstStyle/>
            <a:p>
              <a:pPr algn="ctr">
                <a:lnSpc>
                  <a:spcPts val="2800"/>
                </a:lnSpc>
              </a:pPr>
              <a:endParaRPr/>
            </a:p>
          </p:txBody>
        </p:sp>
      </p:grpSp>
      <p:sp>
        <p:nvSpPr>
          <p:cNvPr id="33" name="Freeform 33"/>
          <p:cNvSpPr/>
          <p:nvPr/>
        </p:nvSpPr>
        <p:spPr>
          <a:xfrm flipV="1">
            <a:off x="16114192" y="8000901"/>
            <a:ext cx="1771612" cy="1752285"/>
          </a:xfrm>
          <a:custGeom>
            <a:avLst/>
            <a:gdLst/>
            <a:ahLst/>
            <a:cxnLst/>
            <a:rect l="l" t="t" r="r" b="b"/>
            <a:pathLst>
              <a:path w="1771612" h="1752285">
                <a:moveTo>
                  <a:pt x="0" y="1752285"/>
                </a:moveTo>
                <a:lnTo>
                  <a:pt x="1771611" y="1752285"/>
                </a:lnTo>
                <a:lnTo>
                  <a:pt x="1771611" y="0"/>
                </a:lnTo>
                <a:lnTo>
                  <a:pt x="0" y="0"/>
                </a:lnTo>
                <a:lnTo>
                  <a:pt x="0" y="175228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4" name="Freeform 34"/>
          <p:cNvSpPr/>
          <p:nvPr/>
        </p:nvSpPr>
        <p:spPr>
          <a:xfrm flipH="1">
            <a:off x="9634197" y="543858"/>
            <a:ext cx="1113115" cy="1100972"/>
          </a:xfrm>
          <a:custGeom>
            <a:avLst/>
            <a:gdLst/>
            <a:ahLst/>
            <a:cxnLst/>
            <a:rect l="l" t="t" r="r" b="b"/>
            <a:pathLst>
              <a:path w="1113115" h="1100972">
                <a:moveTo>
                  <a:pt x="1113115" y="0"/>
                </a:moveTo>
                <a:lnTo>
                  <a:pt x="0" y="0"/>
                </a:lnTo>
                <a:lnTo>
                  <a:pt x="0" y="1100972"/>
                </a:lnTo>
                <a:lnTo>
                  <a:pt x="1113115" y="1100972"/>
                </a:lnTo>
                <a:lnTo>
                  <a:pt x="111311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Freeform 35"/>
          <p:cNvSpPr/>
          <p:nvPr/>
        </p:nvSpPr>
        <p:spPr>
          <a:xfrm>
            <a:off x="679654" y="9654723"/>
            <a:ext cx="1190212" cy="196926"/>
          </a:xfrm>
          <a:custGeom>
            <a:avLst/>
            <a:gdLst/>
            <a:ahLst/>
            <a:cxnLst/>
            <a:rect l="l" t="t" r="r" b="b"/>
            <a:pathLst>
              <a:path w="1190212" h="196926">
                <a:moveTo>
                  <a:pt x="0" y="0"/>
                </a:moveTo>
                <a:lnTo>
                  <a:pt x="1190211" y="0"/>
                </a:lnTo>
                <a:lnTo>
                  <a:pt x="1190211" y="196926"/>
                </a:lnTo>
                <a:lnTo>
                  <a:pt x="0" y="1969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p:cNvSpPr/>
          <p:nvPr/>
        </p:nvSpPr>
        <p:spPr>
          <a:xfrm>
            <a:off x="14626760" y="693817"/>
            <a:ext cx="1190212" cy="196926"/>
          </a:xfrm>
          <a:custGeom>
            <a:avLst/>
            <a:gdLst/>
            <a:ahLst/>
            <a:cxnLst/>
            <a:rect l="l" t="t" r="r" b="b"/>
            <a:pathLst>
              <a:path w="1190212" h="196926">
                <a:moveTo>
                  <a:pt x="0" y="0"/>
                </a:moveTo>
                <a:lnTo>
                  <a:pt x="1190212" y="0"/>
                </a:lnTo>
                <a:lnTo>
                  <a:pt x="1190212" y="196926"/>
                </a:lnTo>
                <a:lnTo>
                  <a:pt x="0" y="1969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7" name="Freeform 37"/>
          <p:cNvSpPr/>
          <p:nvPr/>
        </p:nvSpPr>
        <p:spPr>
          <a:xfrm>
            <a:off x="13696665" y="9159837"/>
            <a:ext cx="1190212" cy="196926"/>
          </a:xfrm>
          <a:custGeom>
            <a:avLst/>
            <a:gdLst/>
            <a:ahLst/>
            <a:cxnLst/>
            <a:rect l="l" t="t" r="r" b="b"/>
            <a:pathLst>
              <a:path w="1190212" h="196926">
                <a:moveTo>
                  <a:pt x="0" y="0"/>
                </a:moveTo>
                <a:lnTo>
                  <a:pt x="1190211" y="0"/>
                </a:lnTo>
                <a:lnTo>
                  <a:pt x="1190211" y="196926"/>
                </a:lnTo>
                <a:lnTo>
                  <a:pt x="0" y="1969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8" name="TextBox 38"/>
          <p:cNvSpPr txBox="1"/>
          <p:nvPr/>
        </p:nvSpPr>
        <p:spPr>
          <a:xfrm>
            <a:off x="1028700" y="1635305"/>
            <a:ext cx="10240935" cy="1000125"/>
          </a:xfrm>
          <a:prstGeom prst="rect">
            <a:avLst/>
          </a:prstGeom>
        </p:spPr>
        <p:txBody>
          <a:bodyPr lIns="0" tIns="0" rIns="0" bIns="0" rtlCol="0" anchor="t">
            <a:spAutoFit/>
          </a:bodyPr>
          <a:lstStyle/>
          <a:p>
            <a:pPr marL="0" lvl="0" indent="0" algn="l">
              <a:lnSpc>
                <a:spcPts val="7800"/>
              </a:lnSpc>
            </a:pPr>
            <a:r>
              <a:rPr lang="en-US" sz="6500" b="1" spc="97">
                <a:solidFill>
                  <a:srgbClr val="011A3C"/>
                </a:solidFill>
                <a:latin typeface="Gotham Bold"/>
                <a:ea typeface="Gotham Bold"/>
                <a:cs typeface="Gotham Bold"/>
                <a:sym typeface="Gotham Bold"/>
              </a:rPr>
              <a:t>IMPLEMENTATION:</a:t>
            </a:r>
          </a:p>
        </p:txBody>
      </p:sp>
      <p:sp>
        <p:nvSpPr>
          <p:cNvPr id="39" name="TextBox 39"/>
          <p:cNvSpPr txBox="1"/>
          <p:nvPr/>
        </p:nvSpPr>
        <p:spPr>
          <a:xfrm>
            <a:off x="1032300" y="644705"/>
            <a:ext cx="7562442" cy="1000125"/>
          </a:xfrm>
          <a:prstGeom prst="rect">
            <a:avLst/>
          </a:prstGeom>
        </p:spPr>
        <p:txBody>
          <a:bodyPr lIns="0" tIns="0" rIns="0" bIns="0" rtlCol="0" anchor="t">
            <a:spAutoFit/>
          </a:bodyPr>
          <a:lstStyle/>
          <a:p>
            <a:pPr marL="0" lvl="0" indent="0" algn="l">
              <a:lnSpc>
                <a:spcPts val="7800"/>
              </a:lnSpc>
            </a:pPr>
            <a:r>
              <a:rPr lang="en-US" sz="6500" b="1" spc="97">
                <a:solidFill>
                  <a:srgbClr val="011A3C"/>
                </a:solidFill>
                <a:latin typeface="Gotham Bold"/>
                <a:ea typeface="Gotham Bold"/>
                <a:cs typeface="Gotham Bold"/>
                <a:sym typeface="Gotham Bold"/>
              </a:rPr>
              <a:t>PROJECT</a:t>
            </a:r>
          </a:p>
        </p:txBody>
      </p:sp>
      <p:sp>
        <p:nvSpPr>
          <p:cNvPr id="40" name="TextBox 40"/>
          <p:cNvSpPr txBox="1"/>
          <p:nvPr/>
        </p:nvSpPr>
        <p:spPr>
          <a:xfrm>
            <a:off x="923845" y="3370415"/>
            <a:ext cx="7489807" cy="3508069"/>
          </a:xfrm>
          <a:prstGeom prst="rect">
            <a:avLst/>
          </a:prstGeom>
        </p:spPr>
        <p:txBody>
          <a:bodyPr lIns="0" tIns="0" rIns="0" bIns="0" rtlCol="0" anchor="t">
            <a:spAutoFit/>
          </a:bodyPr>
          <a:lstStyle/>
          <a:p>
            <a:pPr marL="0" lvl="0" indent="0" algn="ctr">
              <a:lnSpc>
                <a:spcPts val="5556"/>
              </a:lnSpc>
            </a:pPr>
            <a:r>
              <a:rPr lang="en-US" sz="4274" spc="85">
                <a:solidFill>
                  <a:srgbClr val="FFFFFF"/>
                </a:solidFill>
                <a:latin typeface="Literata"/>
                <a:ea typeface="Literata"/>
                <a:cs typeface="Literata"/>
                <a:sym typeface="Literata"/>
              </a:rPr>
              <a:t>Using Deep Learning to Estimate Vibration Comfort of Large-Scale Shake Table During Operation</a:t>
            </a:r>
          </a:p>
        </p:txBody>
      </p:sp>
      <p:sp>
        <p:nvSpPr>
          <p:cNvPr id="41" name="TextBox 41"/>
          <p:cNvSpPr txBox="1"/>
          <p:nvPr/>
        </p:nvSpPr>
        <p:spPr>
          <a:xfrm>
            <a:off x="1274759" y="8333550"/>
            <a:ext cx="3016871" cy="379656"/>
          </a:xfrm>
          <a:prstGeom prst="rect">
            <a:avLst/>
          </a:prstGeom>
        </p:spPr>
        <p:txBody>
          <a:bodyPr lIns="0" tIns="0" rIns="0" bIns="0" rtlCol="0" anchor="t">
            <a:spAutoFit/>
          </a:bodyPr>
          <a:lstStyle/>
          <a:p>
            <a:pPr algn="l">
              <a:lnSpc>
                <a:spcPts val="3220"/>
              </a:lnSpc>
            </a:pPr>
            <a:r>
              <a:rPr lang="en-US" sz="2300">
                <a:solidFill>
                  <a:srgbClr val="011A3C"/>
                </a:solidFill>
                <a:latin typeface="Nunito"/>
                <a:ea typeface="Nunito"/>
                <a:cs typeface="Nunito"/>
                <a:sym typeface="Nunito"/>
              </a:rPr>
              <a:t>Presented By :</a:t>
            </a:r>
          </a:p>
        </p:txBody>
      </p:sp>
      <p:sp>
        <p:nvSpPr>
          <p:cNvPr id="42" name="TextBox 42"/>
          <p:cNvSpPr txBox="1"/>
          <p:nvPr/>
        </p:nvSpPr>
        <p:spPr>
          <a:xfrm>
            <a:off x="5152590" y="8333550"/>
            <a:ext cx="3016871" cy="379656"/>
          </a:xfrm>
          <a:prstGeom prst="rect">
            <a:avLst/>
          </a:prstGeom>
        </p:spPr>
        <p:txBody>
          <a:bodyPr lIns="0" tIns="0" rIns="0" bIns="0" rtlCol="0" anchor="t">
            <a:spAutoFit/>
          </a:bodyPr>
          <a:lstStyle/>
          <a:p>
            <a:pPr algn="l">
              <a:lnSpc>
                <a:spcPts val="3220"/>
              </a:lnSpc>
            </a:pPr>
            <a:r>
              <a:rPr lang="en-US" sz="2300">
                <a:solidFill>
                  <a:srgbClr val="011A3C"/>
                </a:solidFill>
                <a:latin typeface="Nunito"/>
                <a:ea typeface="Nunito"/>
                <a:cs typeface="Nunito"/>
                <a:sym typeface="Nunito"/>
              </a:rPr>
              <a:t>Date :</a:t>
            </a:r>
          </a:p>
        </p:txBody>
      </p:sp>
      <p:sp>
        <p:nvSpPr>
          <p:cNvPr id="43" name="TextBox 43"/>
          <p:cNvSpPr txBox="1"/>
          <p:nvPr/>
        </p:nvSpPr>
        <p:spPr>
          <a:xfrm>
            <a:off x="1274759" y="8646572"/>
            <a:ext cx="3538762" cy="441325"/>
          </a:xfrm>
          <a:prstGeom prst="rect">
            <a:avLst/>
          </a:prstGeom>
        </p:spPr>
        <p:txBody>
          <a:bodyPr lIns="0" tIns="0" rIns="0" bIns="0" rtlCol="0" anchor="t">
            <a:spAutoFit/>
          </a:bodyPr>
          <a:lstStyle/>
          <a:p>
            <a:pPr algn="l">
              <a:lnSpc>
                <a:spcPts val="3499"/>
              </a:lnSpc>
            </a:pPr>
            <a:r>
              <a:rPr lang="en-US" sz="2499" b="1">
                <a:solidFill>
                  <a:srgbClr val="011A3C"/>
                </a:solidFill>
                <a:latin typeface="Poppins Medium"/>
                <a:ea typeface="Poppins Medium"/>
                <a:cs typeface="Poppins Medium"/>
                <a:sym typeface="Poppins Medium"/>
              </a:rPr>
              <a:t>Sulagna Basack</a:t>
            </a:r>
          </a:p>
        </p:txBody>
      </p:sp>
      <p:sp>
        <p:nvSpPr>
          <p:cNvPr id="44" name="TextBox 44"/>
          <p:cNvSpPr txBox="1"/>
          <p:nvPr/>
        </p:nvSpPr>
        <p:spPr>
          <a:xfrm>
            <a:off x="5152590" y="8646572"/>
            <a:ext cx="3016871" cy="441325"/>
          </a:xfrm>
          <a:prstGeom prst="rect">
            <a:avLst/>
          </a:prstGeom>
        </p:spPr>
        <p:txBody>
          <a:bodyPr lIns="0" tIns="0" rIns="0" bIns="0" rtlCol="0" anchor="t">
            <a:spAutoFit/>
          </a:bodyPr>
          <a:lstStyle/>
          <a:p>
            <a:pPr algn="l">
              <a:lnSpc>
                <a:spcPts val="3499"/>
              </a:lnSpc>
            </a:pPr>
            <a:r>
              <a:rPr lang="en-US" sz="2499" b="1">
                <a:solidFill>
                  <a:srgbClr val="011A3C"/>
                </a:solidFill>
                <a:latin typeface="Poppins Medium"/>
                <a:ea typeface="Poppins Medium"/>
                <a:cs typeface="Poppins Medium"/>
                <a:sym typeface="Poppins Medium"/>
              </a:rPr>
              <a:t>26th March, 2026</a:t>
            </a:r>
          </a:p>
        </p:txBody>
      </p:sp>
      <p:sp>
        <p:nvSpPr>
          <p:cNvPr id="45" name="TextBox 45"/>
          <p:cNvSpPr txBox="1"/>
          <p:nvPr/>
        </p:nvSpPr>
        <p:spPr>
          <a:xfrm>
            <a:off x="2343533" y="7059460"/>
            <a:ext cx="4650432" cy="398780"/>
          </a:xfrm>
          <a:prstGeom prst="rect">
            <a:avLst/>
          </a:prstGeom>
        </p:spPr>
        <p:txBody>
          <a:bodyPr lIns="0" tIns="0" rIns="0" bIns="0" rtlCol="0" anchor="t">
            <a:spAutoFit/>
          </a:bodyPr>
          <a:lstStyle/>
          <a:p>
            <a:pPr algn="ctr">
              <a:lnSpc>
                <a:spcPts val="3220"/>
              </a:lnSpc>
              <a:spcBef>
                <a:spcPct val="0"/>
              </a:spcBef>
            </a:pPr>
            <a:r>
              <a:rPr lang="en-US" sz="2300">
                <a:solidFill>
                  <a:srgbClr val="FFFFFF"/>
                </a:solidFill>
                <a:latin typeface="Poppins Light"/>
                <a:ea typeface="Poppins Light"/>
                <a:cs typeface="Poppins Light"/>
                <a:sym typeface="Poppins Light"/>
              </a:rPr>
              <a:t>Structural Health Monitoring &amp;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8" name="TextBox 18"/>
          <p:cNvSpPr txBox="1"/>
          <p:nvPr/>
        </p:nvSpPr>
        <p:spPr>
          <a:xfrm>
            <a:off x="1536639" y="2190949"/>
            <a:ext cx="16751361" cy="7219316"/>
          </a:xfrm>
          <a:prstGeom prst="rect">
            <a:avLst/>
          </a:prstGeom>
        </p:spPr>
        <p:txBody>
          <a:bodyPr lIns="0" tIns="0" rIns="0" bIns="0" rtlCol="0" anchor="t">
            <a:spAutoFit/>
          </a:bodyPr>
          <a:lstStyle/>
          <a:p>
            <a:pPr marL="734055" lvl="1" indent="-367027" algn="l">
              <a:lnSpc>
                <a:spcPts val="4759"/>
              </a:lnSpc>
              <a:buFont typeface="Arial"/>
              <a:buChar char="•"/>
            </a:pPr>
            <a:r>
              <a:rPr lang="en-US" sz="3399">
                <a:solidFill>
                  <a:srgbClr val="011A3C"/>
                </a:solidFill>
                <a:latin typeface="Poppins Light"/>
                <a:ea typeface="Poppins Light"/>
                <a:cs typeface="Poppins Light"/>
                <a:sym typeface="Poppins Light"/>
              </a:rPr>
              <a:t>Raw data set was generated which contains 500 records of ground motion records in the format used in NGA-West2 Database.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RSN (Record Sequence Number):</a:t>
            </a:r>
            <a:r>
              <a:rPr lang="en-US" sz="3399">
                <a:solidFill>
                  <a:srgbClr val="011A3C"/>
                </a:solidFill>
                <a:latin typeface="Poppins Light"/>
                <a:ea typeface="Poppins Light"/>
                <a:cs typeface="Poppins Light"/>
                <a:sym typeface="Poppins Light"/>
              </a:rPr>
              <a:t> Unique ID, Primary key.</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Magnitude: </a:t>
            </a:r>
            <a:r>
              <a:rPr lang="en-US" sz="3399">
                <a:solidFill>
                  <a:srgbClr val="011A3C"/>
                </a:solidFill>
                <a:latin typeface="Poppins"/>
                <a:ea typeface="Poppins"/>
                <a:cs typeface="Poppins"/>
                <a:sym typeface="Poppins"/>
              </a:rPr>
              <a:t>C</a:t>
            </a:r>
            <a:r>
              <a:rPr lang="en-US" sz="3399">
                <a:solidFill>
                  <a:srgbClr val="011A3C"/>
                </a:solidFill>
                <a:latin typeface="Poppins Light"/>
                <a:ea typeface="Poppins Light"/>
                <a:cs typeface="Poppins Light"/>
                <a:sym typeface="Poppins Light"/>
              </a:rPr>
              <a:t>haracterise the seismic source (logarithmic measure of total seismic energy released by the earthquake)</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Vs30(m/s):</a:t>
            </a:r>
            <a:r>
              <a:rPr lang="en-US" sz="3399">
                <a:solidFill>
                  <a:srgbClr val="011A3C"/>
                </a:solidFill>
                <a:latin typeface="Poppins Light"/>
                <a:ea typeface="Poppins Light"/>
                <a:cs typeface="Poppins Light"/>
                <a:sym typeface="Poppins Light"/>
              </a:rPr>
              <a:t> Time-averaged shear-wave velocity in the top 30 m of soil.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Epicentral_Distance (km): </a:t>
            </a:r>
            <a:r>
              <a:rPr lang="en-US" sz="3399">
                <a:solidFill>
                  <a:srgbClr val="011A3C"/>
                </a:solidFill>
                <a:latin typeface="Poppins Light"/>
                <a:ea typeface="Poppins Light"/>
                <a:cs typeface="Poppins Light"/>
                <a:sym typeface="Poppins Light"/>
              </a:rPr>
              <a:t>Horizontal distance from the earthquake epicentre to the recording station.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Depth(km): </a:t>
            </a:r>
            <a:r>
              <a:rPr lang="en-US" sz="3399">
                <a:solidFill>
                  <a:srgbClr val="011A3C"/>
                </a:solidFill>
                <a:latin typeface="Poppins Light"/>
                <a:ea typeface="Poppins Light"/>
                <a:cs typeface="Poppins Light"/>
                <a:sym typeface="Poppins Light"/>
              </a:rPr>
              <a:t>Depth of the earthquake under epicenter.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Duration_original(s):</a:t>
            </a:r>
            <a:r>
              <a:rPr lang="en-US" sz="3399">
                <a:solidFill>
                  <a:srgbClr val="011A3C"/>
                </a:solidFill>
                <a:latin typeface="Poppins Light"/>
                <a:ea typeface="Poppins Light"/>
                <a:cs typeface="Poppins Light"/>
                <a:sym typeface="Poppins Light"/>
              </a:rPr>
              <a:t> Duration of raw ground-motion file BEFORE any standardisation.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Sampling_Freq (Hz):</a:t>
            </a:r>
            <a:r>
              <a:rPr lang="en-US" sz="3399">
                <a:solidFill>
                  <a:srgbClr val="011A3C"/>
                </a:solidFill>
                <a:latin typeface="Poppins Light"/>
                <a:ea typeface="Poppins Light"/>
                <a:cs typeface="Poppins Light"/>
                <a:sym typeface="Poppins Light"/>
              </a:rPr>
              <a:t>Original sampling frequency of the accelerogram.</a:t>
            </a:r>
          </a:p>
        </p:txBody>
      </p:sp>
      <p:sp>
        <p:nvSpPr>
          <p:cNvPr id="19" name="TextBox 19"/>
          <p:cNvSpPr txBox="1"/>
          <p:nvPr/>
        </p:nvSpPr>
        <p:spPr>
          <a:xfrm>
            <a:off x="1631889" y="171649"/>
            <a:ext cx="10240935" cy="1990725"/>
          </a:xfrm>
          <a:prstGeom prst="rect">
            <a:avLst/>
          </a:prstGeom>
        </p:spPr>
        <p:txBody>
          <a:bodyPr lIns="0" tIns="0" rIns="0" bIns="0" rtlCol="0" anchor="t">
            <a:spAutoFit/>
          </a:bodyPr>
          <a:lstStyle/>
          <a:p>
            <a:pPr marL="0" lvl="0" indent="0" algn="l">
              <a:lnSpc>
                <a:spcPts val="7800"/>
              </a:lnSpc>
            </a:pPr>
            <a:r>
              <a:rPr lang="en-US" sz="6500" b="1" spc="97">
                <a:solidFill>
                  <a:srgbClr val="011A3C"/>
                </a:solidFill>
                <a:latin typeface="Gotham Bold"/>
                <a:ea typeface="Gotham Bold"/>
                <a:cs typeface="Gotham Bold"/>
                <a:sym typeface="Gotham Bold"/>
              </a:rPr>
              <a:t>DUMMY DATA SET GENERATION: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8" name="TextBox 18"/>
          <p:cNvSpPr txBox="1"/>
          <p:nvPr/>
        </p:nvSpPr>
        <p:spPr>
          <a:xfrm>
            <a:off x="1631889" y="2133106"/>
            <a:ext cx="15185939" cy="6619241"/>
          </a:xfrm>
          <a:prstGeom prst="rect">
            <a:avLst/>
          </a:prstGeom>
        </p:spPr>
        <p:txBody>
          <a:bodyPr lIns="0" tIns="0" rIns="0" bIns="0" rtlCol="0" anchor="t">
            <a:spAutoFit/>
          </a:bodyPr>
          <a:lstStyle/>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PGA_X (g)</a:t>
            </a:r>
            <a:r>
              <a:rPr lang="en-US" sz="3399">
                <a:solidFill>
                  <a:srgbClr val="011A3C"/>
                </a:solidFill>
                <a:latin typeface="Poppins Light"/>
                <a:ea typeface="Poppins Light"/>
                <a:cs typeface="Poppins Light"/>
                <a:sym typeface="Poppins Light"/>
              </a:rPr>
              <a:t> - Peak Ground Acceleration in the X (longitudinal) direction, in units of g (1 g ≈ 9.807 m/s²).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PGA_Y: </a:t>
            </a:r>
            <a:r>
              <a:rPr lang="en-US" sz="3399">
                <a:solidFill>
                  <a:srgbClr val="011A3C"/>
                </a:solidFill>
                <a:latin typeface="Poppins Light"/>
                <a:ea typeface="Poppins Light"/>
                <a:cs typeface="Poppins Light"/>
                <a:sym typeface="Poppins Light"/>
              </a:rPr>
              <a:t>Secondary regression feature (=0.85 × the X-channel peak)</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PGA_Z: </a:t>
            </a:r>
            <a:r>
              <a:rPr lang="en-US" sz="3399">
                <a:solidFill>
                  <a:srgbClr val="011A3C"/>
                </a:solidFill>
                <a:latin typeface="Poppins Light"/>
                <a:ea typeface="Poppins Light"/>
                <a:cs typeface="Poppins Light"/>
                <a:sym typeface="Poppins Light"/>
              </a:rPr>
              <a:t>Tertiary regression feature (= 0.65 × X-peak )</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Dominant_Freq_X (Hz)</a:t>
            </a:r>
            <a:r>
              <a:rPr lang="en-US" sz="3399">
                <a:solidFill>
                  <a:srgbClr val="011A3C"/>
                </a:solidFill>
                <a:latin typeface="Poppins Light"/>
                <a:ea typeface="Poppins Light"/>
                <a:cs typeface="Poppins Light"/>
                <a:sym typeface="Poppins Light"/>
              </a:rPr>
              <a:t> - Dominant (peak spectral) frequency of the X-direction accelerogram. (Resonance if matches natural freq)</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Dominant_Freq_Y: </a:t>
            </a:r>
            <a:r>
              <a:rPr lang="en-US" sz="3399">
                <a:solidFill>
                  <a:srgbClr val="011A3C"/>
                </a:solidFill>
                <a:latin typeface="Poppins Light"/>
                <a:ea typeface="Poppins Light"/>
                <a:cs typeface="Poppins Light"/>
                <a:sym typeface="Poppins Light"/>
              </a:rPr>
              <a:t>Cross-directional resonance can increase torsional strains.</a:t>
            </a:r>
          </a:p>
          <a:p>
            <a:pPr marL="734055" lvl="1" indent="-367027" algn="l">
              <a:lnSpc>
                <a:spcPts val="4759"/>
              </a:lnSpc>
              <a:buFont typeface="Arial"/>
              <a:buChar char="•"/>
            </a:pPr>
            <a:r>
              <a:rPr lang="en-US" sz="3399" b="1">
                <a:solidFill>
                  <a:srgbClr val="011A3C"/>
                </a:solidFill>
                <a:latin typeface="Poppins Bold"/>
                <a:ea typeface="Poppins Bold"/>
                <a:cs typeface="Poppins Bold"/>
                <a:sym typeface="Poppins Bold"/>
              </a:rPr>
              <a:t>Dominant_Freq_Z:</a:t>
            </a:r>
            <a:r>
              <a:rPr lang="en-US" sz="3399">
                <a:solidFill>
                  <a:srgbClr val="011A3C"/>
                </a:solidFill>
                <a:latin typeface="Poppins Light"/>
                <a:ea typeface="Poppins Light"/>
                <a:cs typeface="Poppins Light"/>
                <a:sym typeface="Poppins Light"/>
              </a:rPr>
              <a:t> Relevant for vertical vibration comfort Estimation.</a:t>
            </a:r>
          </a:p>
          <a:p>
            <a:pPr algn="l">
              <a:lnSpc>
                <a:spcPts val="4759"/>
              </a:lnSpc>
            </a:pPr>
            <a:endParaRPr lang="en-US" sz="3399">
              <a:solidFill>
                <a:srgbClr val="011A3C"/>
              </a:solidFill>
              <a:latin typeface="Poppins Light"/>
              <a:ea typeface="Poppins Light"/>
              <a:cs typeface="Poppins Light"/>
              <a:sym typeface="Poppins Light"/>
            </a:endParaRPr>
          </a:p>
        </p:txBody>
      </p:sp>
      <p:sp>
        <p:nvSpPr>
          <p:cNvPr id="19" name="TextBox 19"/>
          <p:cNvSpPr txBox="1"/>
          <p:nvPr/>
        </p:nvSpPr>
        <p:spPr>
          <a:xfrm>
            <a:off x="1631889" y="686843"/>
            <a:ext cx="10595474" cy="723900"/>
          </a:xfrm>
          <a:prstGeom prst="rect">
            <a:avLst/>
          </a:prstGeom>
        </p:spPr>
        <p:txBody>
          <a:bodyPr lIns="0" tIns="0" rIns="0" bIns="0" rtlCol="0" anchor="t">
            <a:spAutoFit/>
          </a:bodyPr>
          <a:lstStyle/>
          <a:p>
            <a:pPr marL="0" lvl="0" indent="0" algn="l">
              <a:lnSpc>
                <a:spcPts val="5760"/>
              </a:lnSpc>
            </a:pPr>
            <a:r>
              <a:rPr lang="en-US" sz="4800" b="1" spc="72" dirty="0">
                <a:solidFill>
                  <a:srgbClr val="011A3C"/>
                </a:solidFill>
                <a:latin typeface="Gotham Bold"/>
                <a:ea typeface="Gotham Bold"/>
                <a:cs typeface="Gotham Bold"/>
                <a:sym typeface="Gotham Bold"/>
              </a:rPr>
              <a:t>DUMMY DATA SET GENERATION: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8" name="TextBox 18"/>
          <p:cNvSpPr txBox="1"/>
          <p:nvPr/>
        </p:nvSpPr>
        <p:spPr>
          <a:xfrm>
            <a:off x="1631889" y="1867534"/>
            <a:ext cx="15185939" cy="8585877"/>
          </a:xfrm>
          <a:prstGeom prst="rect">
            <a:avLst/>
          </a:prstGeom>
        </p:spPr>
        <p:txBody>
          <a:bodyPr lIns="0" tIns="0" rIns="0" bIns="0" rtlCol="0" anchor="t">
            <a:spAutoFit/>
          </a:bodyPr>
          <a:lstStyle/>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Raw Acceleration Signals for each of the ground motions are created synthetically to get a long time series data of ground motions. </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Simplified Synthetic waveform: decayed sinusoid + noise</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Creates a slowly-decaying amplitude envelope.</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A real earthquake accelerogram has three physical phases: silence → build-up → strong motion → decay. The envelope simulates this shape.</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Pre-Processing Steps:-</a:t>
            </a:r>
          </a:p>
          <a:p>
            <a:pPr algn="l">
              <a:lnSpc>
                <a:spcPts val="4759"/>
              </a:lnSpc>
            </a:pPr>
            <a:r>
              <a:rPr lang="en-US" sz="3399" dirty="0">
                <a:solidFill>
                  <a:srgbClr val="011A3C"/>
                </a:solidFill>
                <a:latin typeface="Poppins Light"/>
                <a:ea typeface="Poppins Light"/>
                <a:cs typeface="Poppins Light"/>
                <a:sym typeface="Poppins Light"/>
              </a:rPr>
              <a:t>1. </a:t>
            </a:r>
            <a:r>
              <a:rPr lang="en-US" sz="3399" dirty="0" err="1">
                <a:solidFill>
                  <a:srgbClr val="011A3C"/>
                </a:solidFill>
                <a:latin typeface="Poppins Light"/>
                <a:ea typeface="Poppins Light"/>
                <a:cs typeface="Poppins Light"/>
                <a:sym typeface="Poppins Light"/>
              </a:rPr>
              <a:t>Normalisation</a:t>
            </a:r>
            <a:r>
              <a:rPr lang="en-US" sz="3399" dirty="0">
                <a:solidFill>
                  <a:srgbClr val="011A3C"/>
                </a:solidFill>
                <a:latin typeface="Poppins Light"/>
                <a:ea typeface="Poppins Light"/>
                <a:cs typeface="Poppins Light"/>
                <a:sym typeface="Poppins Light"/>
              </a:rPr>
              <a:t> and Scaling of Data </a:t>
            </a:r>
          </a:p>
          <a:p>
            <a:pPr algn="l">
              <a:lnSpc>
                <a:spcPts val="4759"/>
              </a:lnSpc>
            </a:pPr>
            <a:r>
              <a:rPr lang="en-US" sz="3399" dirty="0">
                <a:solidFill>
                  <a:srgbClr val="011A3C"/>
                </a:solidFill>
                <a:latin typeface="Poppins Light"/>
                <a:ea typeface="Poppins Light"/>
                <a:cs typeface="Poppins Light"/>
                <a:sym typeface="Poppins Light"/>
              </a:rPr>
              <a:t>2. Resampling at 50Hz</a:t>
            </a:r>
          </a:p>
          <a:p>
            <a:pPr algn="l">
              <a:lnSpc>
                <a:spcPts val="4759"/>
              </a:lnSpc>
            </a:pPr>
            <a:r>
              <a:rPr lang="en-US" sz="3399" dirty="0">
                <a:solidFill>
                  <a:srgbClr val="011A3C"/>
                </a:solidFill>
                <a:latin typeface="Poppins Light"/>
                <a:ea typeface="Poppins Light"/>
                <a:cs typeface="Poppins Light"/>
                <a:sym typeface="Poppins Light"/>
              </a:rPr>
              <a:t>3. Duration </a:t>
            </a:r>
            <a:r>
              <a:rPr lang="en-US" sz="3399" dirty="0" err="1">
                <a:solidFill>
                  <a:srgbClr val="011A3C"/>
                </a:solidFill>
                <a:latin typeface="Poppins Light"/>
                <a:ea typeface="Poppins Light"/>
                <a:cs typeface="Poppins Light"/>
                <a:sym typeface="Poppins Light"/>
              </a:rPr>
              <a:t>Standardisation</a:t>
            </a:r>
            <a:r>
              <a:rPr lang="en-US" sz="3399" dirty="0">
                <a:solidFill>
                  <a:srgbClr val="011A3C"/>
                </a:solidFill>
                <a:latin typeface="Poppins Light"/>
                <a:ea typeface="Poppins Light"/>
                <a:cs typeface="Poppins Light"/>
                <a:sym typeface="Poppins Light"/>
              </a:rPr>
              <a:t> acc to given convention</a:t>
            </a:r>
          </a:p>
          <a:p>
            <a:pPr algn="l">
              <a:lnSpc>
                <a:spcPts val="4759"/>
              </a:lnSpc>
            </a:pPr>
            <a:r>
              <a:rPr lang="en-US" sz="3399" dirty="0">
                <a:solidFill>
                  <a:srgbClr val="011A3C"/>
                </a:solidFill>
                <a:latin typeface="Poppins Light"/>
                <a:ea typeface="Poppins Light"/>
                <a:cs typeface="Poppins Light"/>
                <a:sym typeface="Poppins Light"/>
              </a:rPr>
              <a:t>4. WAL Calculation</a:t>
            </a:r>
          </a:p>
          <a:p>
            <a:pPr algn="l">
              <a:lnSpc>
                <a:spcPts val="4759"/>
              </a:lnSpc>
            </a:pPr>
            <a:endParaRPr lang="en-US" sz="3399" dirty="0">
              <a:solidFill>
                <a:srgbClr val="011A3C"/>
              </a:solidFill>
              <a:latin typeface="Poppins Light"/>
              <a:ea typeface="Poppins Light"/>
              <a:cs typeface="Poppins Light"/>
              <a:sym typeface="Poppins Light"/>
            </a:endParaRPr>
          </a:p>
        </p:txBody>
      </p:sp>
      <p:sp>
        <p:nvSpPr>
          <p:cNvPr id="19" name="TextBox 19"/>
          <p:cNvSpPr txBox="1"/>
          <p:nvPr/>
        </p:nvSpPr>
        <p:spPr>
          <a:xfrm>
            <a:off x="1631889" y="1006316"/>
            <a:ext cx="11752517" cy="723900"/>
          </a:xfrm>
          <a:prstGeom prst="rect">
            <a:avLst/>
          </a:prstGeom>
        </p:spPr>
        <p:txBody>
          <a:bodyPr lIns="0" tIns="0" rIns="0" bIns="0" rtlCol="0" anchor="t">
            <a:spAutoFit/>
          </a:bodyPr>
          <a:lstStyle/>
          <a:p>
            <a:pPr marL="0" lvl="0" indent="0" algn="l">
              <a:lnSpc>
                <a:spcPts val="5760"/>
              </a:lnSpc>
            </a:pPr>
            <a:r>
              <a:rPr lang="en-US" sz="4800" b="1" spc="72">
                <a:solidFill>
                  <a:srgbClr val="011A3C"/>
                </a:solidFill>
                <a:latin typeface="Gotham Bold"/>
                <a:ea typeface="Gotham Bold"/>
                <a:cs typeface="Gotham Bold"/>
                <a:sym typeface="Gotham Bold"/>
              </a:rPr>
              <a:t>PRE-PROCESSING METHODOLOGY: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2339377" y="275987"/>
            <a:ext cx="14705578" cy="9735026"/>
          </a:xfrm>
          <a:custGeom>
            <a:avLst/>
            <a:gdLst/>
            <a:ahLst/>
            <a:cxnLst/>
            <a:rect l="l" t="t" r="r" b="b"/>
            <a:pathLst>
              <a:path w="14705578" h="9735026">
                <a:moveTo>
                  <a:pt x="0" y="0"/>
                </a:moveTo>
                <a:lnTo>
                  <a:pt x="14705578" y="0"/>
                </a:lnTo>
                <a:lnTo>
                  <a:pt x="14705578" y="9735026"/>
                </a:lnTo>
                <a:lnTo>
                  <a:pt x="0" y="9735026"/>
                </a:lnTo>
                <a:lnTo>
                  <a:pt x="0" y="0"/>
                </a:lnTo>
                <a:close/>
              </a:path>
            </a:pathLst>
          </a:custGeom>
          <a:blipFill>
            <a:blip r:embed="rId7"/>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631889" y="1656715"/>
            <a:ext cx="16656111" cy="9019541"/>
          </a:xfrm>
          <a:prstGeom prst="rect">
            <a:avLst/>
          </a:prstGeom>
        </p:spPr>
        <p:txBody>
          <a:bodyPr lIns="0" tIns="0" rIns="0" bIns="0" rtlCol="0" anchor="t">
            <a:spAutoFit/>
          </a:bodyPr>
          <a:lstStyle/>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Features: Individual measurable properties or characteristics (input variables).</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Features:- </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RSN</a:t>
            </a:r>
          </a:p>
          <a:p>
            <a:pPr marL="2202164" lvl="3" indent="-550541" algn="l">
              <a:lnSpc>
                <a:spcPts val="4759"/>
              </a:lnSpc>
              <a:buFont typeface="Arial"/>
              <a:buChar char="￭"/>
            </a:pPr>
            <a:r>
              <a:rPr lang="en-US" sz="3399" dirty="0" err="1">
                <a:solidFill>
                  <a:srgbClr val="011A3C"/>
                </a:solidFill>
                <a:latin typeface="Poppins Light"/>
                <a:ea typeface="Poppins Light"/>
                <a:cs typeface="Poppins Light"/>
                <a:sym typeface="Poppins Light"/>
              </a:rPr>
              <a:t>Normalised</a:t>
            </a:r>
            <a:r>
              <a:rPr lang="en-US" sz="3399" dirty="0">
                <a:solidFill>
                  <a:srgbClr val="011A3C"/>
                </a:solidFill>
                <a:latin typeface="Poppins Light"/>
                <a:ea typeface="Poppins Light"/>
                <a:cs typeface="Poppins Light"/>
                <a:sym typeface="Poppins Light"/>
              </a:rPr>
              <a:t> PGA in 3 directions (worst instant of ground </a:t>
            </a:r>
            <a:r>
              <a:rPr lang="en-US" sz="3399" dirty="0" err="1">
                <a:solidFill>
                  <a:srgbClr val="011A3C"/>
                </a:solidFill>
                <a:latin typeface="Poppins Light"/>
                <a:ea typeface="Poppins Light"/>
                <a:cs typeface="Poppins Light"/>
                <a:sym typeface="Poppins Light"/>
              </a:rPr>
              <a:t>accelaration</a:t>
            </a:r>
            <a:r>
              <a:rPr lang="en-US" sz="3399" dirty="0">
                <a:solidFill>
                  <a:srgbClr val="011A3C"/>
                </a:solidFill>
                <a:latin typeface="Poppins Light"/>
                <a:ea typeface="Poppins Light"/>
                <a:cs typeface="Poppins Light"/>
                <a:sym typeface="Poppins Light"/>
              </a:rPr>
              <a:t>)</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RMS of time series generated in 3 directions</a:t>
            </a:r>
          </a:p>
          <a:p>
            <a:pPr marL="2202164" lvl="3" indent="-550541" algn="l">
              <a:lnSpc>
                <a:spcPts val="4759"/>
              </a:lnSpc>
              <a:buFont typeface="Arial"/>
              <a:buChar char="￭"/>
            </a:pPr>
            <a:r>
              <a:rPr lang="en-US" sz="3399" dirty="0" err="1">
                <a:solidFill>
                  <a:srgbClr val="011A3C"/>
                </a:solidFill>
                <a:latin typeface="Poppins Light"/>
                <a:ea typeface="Poppins Light"/>
                <a:cs typeface="Poppins Light"/>
                <a:sym typeface="Poppins Light"/>
              </a:rPr>
              <a:t>Arias_X</a:t>
            </a:r>
            <a:r>
              <a:rPr lang="en-US" sz="3399" dirty="0">
                <a:solidFill>
                  <a:srgbClr val="011A3C"/>
                </a:solidFill>
                <a:latin typeface="Poppins Light"/>
                <a:ea typeface="Poppins Light"/>
                <a:cs typeface="Poppins Light"/>
                <a:sym typeface="Poppins Light"/>
              </a:rPr>
              <a:t> (total accumulated energy of time series data)</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Magnitude of earthquake</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log(distance from </a:t>
            </a:r>
            <a:r>
              <a:rPr lang="en-US" sz="3399" dirty="0" err="1">
                <a:solidFill>
                  <a:srgbClr val="011A3C"/>
                </a:solidFill>
                <a:latin typeface="Poppins Light"/>
                <a:ea typeface="Poppins Light"/>
                <a:cs typeface="Poppins Light"/>
                <a:sym typeface="Poppins Light"/>
              </a:rPr>
              <a:t>epiventer</a:t>
            </a:r>
            <a:r>
              <a:rPr lang="en-US" sz="3399" dirty="0">
                <a:solidFill>
                  <a:srgbClr val="011A3C"/>
                </a:solidFill>
                <a:latin typeface="Poppins Light"/>
                <a:ea typeface="Poppins Light"/>
                <a:cs typeface="Poppins Light"/>
                <a:sym typeface="Poppins Light"/>
              </a:rPr>
              <a:t>)</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log(depth of earthquake)</a:t>
            </a:r>
          </a:p>
          <a:p>
            <a:pPr marL="2202164" lvl="3" indent="-550541" algn="l">
              <a:lnSpc>
                <a:spcPts val="4759"/>
              </a:lnSpc>
              <a:buFont typeface="Arial"/>
              <a:buChar char="￭"/>
            </a:pPr>
            <a:r>
              <a:rPr lang="en-US" sz="3399" dirty="0">
                <a:solidFill>
                  <a:srgbClr val="011A3C"/>
                </a:solidFill>
                <a:latin typeface="Poppins Light"/>
                <a:ea typeface="Poppins Light"/>
                <a:cs typeface="Poppins Light"/>
                <a:sym typeface="Poppins Light"/>
              </a:rPr>
              <a:t>log(peak velocity of 30m topsoil)</a:t>
            </a:r>
          </a:p>
          <a:p>
            <a:pPr marL="734055" lvl="1" indent="-367027" algn="l">
              <a:lnSpc>
                <a:spcPts val="4759"/>
              </a:lnSpc>
              <a:buFont typeface="Arial"/>
              <a:buChar char="•"/>
            </a:pPr>
            <a:r>
              <a:rPr lang="en-US" sz="3399" dirty="0">
                <a:solidFill>
                  <a:srgbClr val="011A3C"/>
                </a:solidFill>
                <a:latin typeface="Poppins Light"/>
                <a:ea typeface="Poppins Light"/>
                <a:cs typeface="Poppins Light"/>
                <a:sym typeface="Poppins Light"/>
              </a:rPr>
              <a:t>Our feature matrix contains 11 features, 1 RSN, 9 WAL values at different measuring points</a:t>
            </a:r>
          </a:p>
          <a:p>
            <a:pPr marL="734055" lvl="1" indent="-367027" algn="l">
              <a:lnSpc>
                <a:spcPts val="4759"/>
              </a:lnSpc>
              <a:buFont typeface="Arial"/>
              <a:buChar char="•"/>
            </a:pPr>
            <a:endParaRPr lang="en-US" sz="3399" dirty="0">
              <a:solidFill>
                <a:srgbClr val="011A3C"/>
              </a:solidFill>
              <a:latin typeface="Poppins Light"/>
              <a:ea typeface="Poppins Light"/>
              <a:cs typeface="Poppins Light"/>
              <a:sym typeface="Poppins Light"/>
            </a:endParaRPr>
          </a:p>
        </p:txBody>
      </p:sp>
      <p:sp>
        <p:nvSpPr>
          <p:cNvPr id="18" name="TextBox 18"/>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9" name="TextBox 19"/>
          <p:cNvSpPr txBox="1"/>
          <p:nvPr/>
        </p:nvSpPr>
        <p:spPr>
          <a:xfrm>
            <a:off x="1631889" y="764222"/>
            <a:ext cx="10595474" cy="723900"/>
          </a:xfrm>
          <a:prstGeom prst="rect">
            <a:avLst/>
          </a:prstGeom>
        </p:spPr>
        <p:txBody>
          <a:bodyPr lIns="0" tIns="0" rIns="0" bIns="0" rtlCol="0" anchor="t">
            <a:spAutoFit/>
          </a:bodyPr>
          <a:lstStyle/>
          <a:p>
            <a:pPr marL="0" lvl="0" indent="0" algn="l">
              <a:lnSpc>
                <a:spcPts val="5760"/>
              </a:lnSpc>
            </a:pPr>
            <a:r>
              <a:rPr lang="en-US" sz="4800" b="1" spc="72">
                <a:solidFill>
                  <a:srgbClr val="011A3C"/>
                </a:solidFill>
                <a:latin typeface="Gotham Bold"/>
                <a:ea typeface="Gotham Bold"/>
                <a:cs typeface="Gotham Bold"/>
                <a:sym typeface="Gotham Bold"/>
              </a:rPr>
              <a:t>FEATURE CODING: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144434" y="1028700"/>
            <a:ext cx="17875592" cy="7434803"/>
          </a:xfrm>
          <a:custGeom>
            <a:avLst/>
            <a:gdLst/>
            <a:ahLst/>
            <a:cxnLst/>
            <a:rect l="l" t="t" r="r" b="b"/>
            <a:pathLst>
              <a:path w="17875592" h="7434803">
                <a:moveTo>
                  <a:pt x="0" y="0"/>
                </a:moveTo>
                <a:lnTo>
                  <a:pt x="17875592" y="0"/>
                </a:lnTo>
                <a:lnTo>
                  <a:pt x="17875592" y="7434803"/>
                </a:lnTo>
                <a:lnTo>
                  <a:pt x="0" y="7434803"/>
                </a:lnTo>
                <a:lnTo>
                  <a:pt x="0" y="0"/>
                </a:lnTo>
                <a:close/>
              </a:path>
            </a:pathLst>
          </a:custGeom>
          <a:blipFill>
            <a:blip r:embed="rId7"/>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8" name="TextBox 18"/>
          <p:cNvSpPr txBox="1"/>
          <p:nvPr/>
        </p:nvSpPr>
        <p:spPr>
          <a:xfrm>
            <a:off x="1631889" y="2133106"/>
            <a:ext cx="15185939" cy="7219316"/>
          </a:xfrm>
          <a:prstGeom prst="rect">
            <a:avLst/>
          </a:prstGeom>
        </p:spPr>
        <p:txBody>
          <a:bodyPr lIns="0" tIns="0" rIns="0" bIns="0" rtlCol="0" anchor="t">
            <a:spAutoFit/>
          </a:bodyPr>
          <a:lstStyle/>
          <a:p>
            <a:pPr marL="734055" lvl="1" indent="-367027" algn="l">
              <a:lnSpc>
                <a:spcPts val="4759"/>
              </a:lnSpc>
              <a:buFont typeface="Arial"/>
              <a:buChar char="•"/>
            </a:pPr>
            <a:r>
              <a:rPr lang="en-US" sz="3399">
                <a:solidFill>
                  <a:srgbClr val="011A3C"/>
                </a:solidFill>
                <a:latin typeface="Poppins Light"/>
                <a:ea typeface="Poppins Light"/>
                <a:cs typeface="Poppins Light"/>
                <a:sym typeface="Poppins Light"/>
              </a:rPr>
              <a:t>The 500 record synthetic data is split 80:20 ratio for training and testing respectively.</a:t>
            </a:r>
          </a:p>
          <a:p>
            <a:pPr marL="734055" lvl="1" indent="-367027" algn="l">
              <a:lnSpc>
                <a:spcPts val="4759"/>
              </a:lnSpc>
              <a:buFont typeface="Arial"/>
              <a:buChar char="•"/>
            </a:pPr>
            <a:r>
              <a:rPr lang="en-US" sz="3399">
                <a:solidFill>
                  <a:srgbClr val="011A3C"/>
                </a:solidFill>
                <a:latin typeface="Poppins Light"/>
                <a:ea typeface="Poppins Light"/>
                <a:cs typeface="Poppins Light"/>
                <a:sym typeface="Poppins Light"/>
              </a:rPr>
              <a:t>Our model is a linear regression model that fits a straight line to the training data and then test the linear regression model with the testing data.</a:t>
            </a:r>
          </a:p>
          <a:p>
            <a:pPr marL="734055" lvl="1" indent="-367027" algn="l">
              <a:lnSpc>
                <a:spcPts val="4759"/>
              </a:lnSpc>
              <a:buFont typeface="Arial"/>
              <a:buChar char="•"/>
            </a:pPr>
            <a:r>
              <a:rPr lang="en-US" sz="3399">
                <a:solidFill>
                  <a:srgbClr val="011A3C"/>
                </a:solidFill>
                <a:latin typeface="Poppins Light"/>
                <a:ea typeface="Poppins Light"/>
                <a:cs typeface="Poppins Light"/>
                <a:sym typeface="Poppins Light"/>
              </a:rPr>
              <a:t>Our number of iterations is restricted to 1000 steps and learning rate is 0.01.</a:t>
            </a:r>
          </a:p>
          <a:p>
            <a:pPr marL="2202164" lvl="3" indent="-550541" algn="l">
              <a:lnSpc>
                <a:spcPts val="4759"/>
              </a:lnSpc>
              <a:buFont typeface="Arial"/>
              <a:buChar char="￭"/>
            </a:pPr>
            <a:r>
              <a:rPr lang="en-US" sz="3399">
                <a:solidFill>
                  <a:srgbClr val="011A3C"/>
                </a:solidFill>
                <a:latin typeface="Poppins Light"/>
                <a:ea typeface="Poppins Light"/>
                <a:cs typeface="Poppins Light"/>
                <a:sym typeface="Poppins Light"/>
              </a:rPr>
              <a:t>Predict current Y = X.weight + bias (this is in the form of matrix equations thus dot product is used)</a:t>
            </a:r>
          </a:p>
          <a:p>
            <a:pPr marL="2202164" lvl="3" indent="-550541" algn="l">
              <a:lnSpc>
                <a:spcPts val="4759"/>
              </a:lnSpc>
              <a:buFont typeface="Arial"/>
              <a:buChar char="￭"/>
            </a:pPr>
            <a:r>
              <a:rPr lang="en-US" sz="3399">
                <a:solidFill>
                  <a:srgbClr val="011A3C"/>
                </a:solidFill>
                <a:latin typeface="Poppins Light"/>
                <a:ea typeface="Poppins Light"/>
                <a:cs typeface="Poppins Light"/>
                <a:sym typeface="Poppins Light"/>
              </a:rPr>
              <a:t>Calculate gradients of weights and bias (derivatives) normalised by number of samples</a:t>
            </a:r>
          </a:p>
          <a:p>
            <a:pPr marL="2202164" lvl="3" indent="-550541" algn="l">
              <a:lnSpc>
                <a:spcPts val="4759"/>
              </a:lnSpc>
              <a:buFont typeface="Arial"/>
              <a:buChar char="￭"/>
            </a:pPr>
            <a:r>
              <a:rPr lang="en-US" sz="3399">
                <a:solidFill>
                  <a:srgbClr val="011A3C"/>
                </a:solidFill>
                <a:latin typeface="Poppins Light"/>
                <a:ea typeface="Poppins Light"/>
                <a:cs typeface="Poppins Light"/>
                <a:sym typeface="Poppins Light"/>
              </a:rPr>
              <a:t>Use gradient descent to reach local minima.</a:t>
            </a:r>
          </a:p>
        </p:txBody>
      </p:sp>
      <p:sp>
        <p:nvSpPr>
          <p:cNvPr id="19" name="TextBox 19"/>
          <p:cNvSpPr txBox="1"/>
          <p:nvPr/>
        </p:nvSpPr>
        <p:spPr>
          <a:xfrm>
            <a:off x="1631889" y="1037590"/>
            <a:ext cx="10875013" cy="723900"/>
          </a:xfrm>
          <a:prstGeom prst="rect">
            <a:avLst/>
          </a:prstGeom>
        </p:spPr>
        <p:txBody>
          <a:bodyPr lIns="0" tIns="0" rIns="0" bIns="0" rtlCol="0" anchor="t">
            <a:spAutoFit/>
          </a:bodyPr>
          <a:lstStyle/>
          <a:p>
            <a:pPr marL="0" lvl="0" indent="0" algn="l">
              <a:lnSpc>
                <a:spcPts val="5760"/>
              </a:lnSpc>
            </a:pPr>
            <a:r>
              <a:rPr lang="en-US" sz="4800" b="1" spc="72">
                <a:solidFill>
                  <a:srgbClr val="011A3C"/>
                </a:solidFill>
                <a:latin typeface="Gotham Bold"/>
                <a:ea typeface="Gotham Bold"/>
                <a:cs typeface="Gotham Bold"/>
                <a:sym typeface="Gotham Bold"/>
              </a:rPr>
              <a:t>MODEL TRAINING AND TESTING: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3698224" y="181174"/>
            <a:ext cx="11411738" cy="9704901"/>
          </a:xfrm>
          <a:custGeom>
            <a:avLst/>
            <a:gdLst/>
            <a:ahLst/>
            <a:cxnLst/>
            <a:rect l="l" t="t" r="r" b="b"/>
            <a:pathLst>
              <a:path w="11411738" h="9704901">
                <a:moveTo>
                  <a:pt x="0" y="0"/>
                </a:moveTo>
                <a:lnTo>
                  <a:pt x="11411738" y="0"/>
                </a:lnTo>
                <a:lnTo>
                  <a:pt x="11411738" y="9704901"/>
                </a:lnTo>
                <a:lnTo>
                  <a:pt x="0" y="9704901"/>
                </a:lnTo>
                <a:lnTo>
                  <a:pt x="0" y="0"/>
                </a:lnTo>
                <a:close/>
              </a:path>
            </a:pathLst>
          </a:custGeom>
          <a:blipFill>
            <a:blip r:embed="rId7"/>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2748" y="-2698351"/>
            <a:ext cx="4732342" cy="4430278"/>
            <a:chOff x="0" y="0"/>
            <a:chExt cx="596900" cy="558800"/>
          </a:xfrm>
        </p:grpSpPr>
        <p:sp>
          <p:nvSpPr>
            <p:cNvPr id="3" name="Freeform 3"/>
            <p:cNvSpPr/>
            <p:nvPr/>
          </p:nvSpPr>
          <p:spPr>
            <a:xfrm>
              <a:off x="0" y="0"/>
              <a:ext cx="596900" cy="558800"/>
            </a:xfrm>
            <a:custGeom>
              <a:avLst/>
              <a:gdLst/>
              <a:ahLst/>
              <a:cxnLst/>
              <a:rect l="l" t="t" r="r" b="b"/>
              <a:pathLst>
                <a:path w="596900" h="5588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3188787" y="-366959"/>
            <a:ext cx="14820677" cy="13874676"/>
            <a:chOff x="0" y="0"/>
            <a:chExt cx="596900" cy="558800"/>
          </a:xfrm>
        </p:grpSpPr>
        <p:sp>
          <p:nvSpPr>
            <p:cNvPr id="6" name="Freeform 6"/>
            <p:cNvSpPr/>
            <p:nvPr/>
          </p:nvSpPr>
          <p:spPr>
            <a:xfrm>
              <a:off x="0" y="0"/>
              <a:ext cx="596900" cy="558800"/>
            </a:xfrm>
            <a:custGeom>
              <a:avLst/>
              <a:gdLst/>
              <a:ahLst/>
              <a:cxnLst/>
              <a:rect l="l" t="t" r="r" b="b"/>
              <a:pathLst>
                <a:path w="596900" h="5588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2176656" y="181174"/>
            <a:ext cx="13425829" cy="12568861"/>
            <a:chOff x="0" y="0"/>
            <a:chExt cx="596900" cy="558800"/>
          </a:xfrm>
        </p:grpSpPr>
        <p:sp>
          <p:nvSpPr>
            <p:cNvPr id="9" name="Freeform 9"/>
            <p:cNvSpPr/>
            <p:nvPr/>
          </p:nvSpPr>
          <p:spPr>
            <a:xfrm>
              <a:off x="0" y="0"/>
              <a:ext cx="596900" cy="558800"/>
            </a:xfrm>
            <a:custGeom>
              <a:avLst/>
              <a:gdLst/>
              <a:ahLst/>
              <a:cxnLst/>
              <a:rect l="l" t="t" r="r" b="b"/>
              <a:pathLst>
                <a:path w="596900" h="5588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id="10" name="TextBox 10"/>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00000">
            <a:off x="13308055" y="9334651"/>
            <a:ext cx="2392343" cy="2239640"/>
            <a:chOff x="0" y="0"/>
            <a:chExt cx="596900" cy="558800"/>
          </a:xfrm>
        </p:grpSpPr>
        <p:sp>
          <p:nvSpPr>
            <p:cNvPr id="12" name="Freeform 12"/>
            <p:cNvSpPr/>
            <p:nvPr/>
          </p:nvSpPr>
          <p:spPr>
            <a:xfrm>
              <a:off x="0" y="0"/>
              <a:ext cx="596900" cy="558800"/>
            </a:xfrm>
            <a:custGeom>
              <a:avLst/>
              <a:gdLst/>
              <a:ahLst/>
              <a:cxnLst/>
              <a:rect l="l" t="t" r="r" b="b"/>
              <a:pathLst>
                <a:path w="596900" h="5588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14" name="Freeform 14"/>
          <p:cNvSpPr/>
          <p:nvPr/>
        </p:nvSpPr>
        <p:spPr>
          <a:xfrm>
            <a:off x="144434" y="532300"/>
            <a:ext cx="1401730" cy="231923"/>
          </a:xfrm>
          <a:custGeom>
            <a:avLst/>
            <a:gdLst/>
            <a:ahLst/>
            <a:cxnLst/>
            <a:rect l="l" t="t" r="r" b="b"/>
            <a:pathLst>
              <a:path w="1401730" h="231923">
                <a:moveTo>
                  <a:pt x="0" y="0"/>
                </a:moveTo>
                <a:lnTo>
                  <a:pt x="1401730" y="0"/>
                </a:lnTo>
                <a:lnTo>
                  <a:pt x="1401730" y="231922"/>
                </a:lnTo>
                <a:lnTo>
                  <a:pt x="0" y="2319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14504226" y="9685631"/>
            <a:ext cx="1211471" cy="200443"/>
          </a:xfrm>
          <a:custGeom>
            <a:avLst/>
            <a:gdLst/>
            <a:ahLst/>
            <a:cxnLst/>
            <a:rect l="l" t="t" r="r" b="b"/>
            <a:pathLst>
              <a:path w="1211471" h="200443">
                <a:moveTo>
                  <a:pt x="0" y="0"/>
                </a:moveTo>
                <a:lnTo>
                  <a:pt x="1211472" y="0"/>
                </a:lnTo>
                <a:lnTo>
                  <a:pt x="1211472" y="200444"/>
                </a:lnTo>
                <a:lnTo>
                  <a:pt x="0" y="20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11292003" y="609463"/>
            <a:ext cx="935360" cy="154760"/>
          </a:xfrm>
          <a:custGeom>
            <a:avLst/>
            <a:gdLst/>
            <a:ahLst/>
            <a:cxnLst/>
            <a:rect l="l" t="t" r="r" b="b"/>
            <a:pathLst>
              <a:path w="935360" h="154760">
                <a:moveTo>
                  <a:pt x="0" y="0"/>
                </a:moveTo>
                <a:lnTo>
                  <a:pt x="935360" y="0"/>
                </a:lnTo>
                <a:lnTo>
                  <a:pt x="935360" y="154759"/>
                </a:lnTo>
                <a:lnTo>
                  <a:pt x="0" y="154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2396069" y="4123342"/>
            <a:ext cx="14421760" cy="6022540"/>
          </a:xfrm>
          <a:custGeom>
            <a:avLst/>
            <a:gdLst/>
            <a:ahLst/>
            <a:cxnLst/>
            <a:rect l="l" t="t" r="r" b="b"/>
            <a:pathLst>
              <a:path w="14421760" h="6022540">
                <a:moveTo>
                  <a:pt x="0" y="0"/>
                </a:moveTo>
                <a:lnTo>
                  <a:pt x="14421760" y="0"/>
                </a:lnTo>
                <a:lnTo>
                  <a:pt x="14421760" y="6022540"/>
                </a:lnTo>
                <a:lnTo>
                  <a:pt x="0" y="6022540"/>
                </a:lnTo>
                <a:lnTo>
                  <a:pt x="0" y="0"/>
                </a:lnTo>
                <a:close/>
              </a:path>
            </a:pathLst>
          </a:custGeom>
          <a:blipFill>
            <a:blip r:embed="rId7"/>
            <a:stretch>
              <a:fillRect/>
            </a:stretch>
          </a:blipFill>
        </p:spPr>
      </p:sp>
      <p:sp>
        <p:nvSpPr>
          <p:cNvPr id="18" name="TextBox 18"/>
          <p:cNvSpPr txBox="1"/>
          <p:nvPr/>
        </p:nvSpPr>
        <p:spPr>
          <a:xfrm>
            <a:off x="13174673" y="619760"/>
            <a:ext cx="4236119" cy="779780"/>
          </a:xfrm>
          <a:prstGeom prst="rect">
            <a:avLst/>
          </a:prstGeom>
        </p:spPr>
        <p:txBody>
          <a:bodyPr lIns="0" tIns="0" rIns="0" bIns="0" rtlCol="0" anchor="t">
            <a:spAutoFit/>
          </a:bodyPr>
          <a:lstStyle/>
          <a:p>
            <a:pPr marL="0" lvl="0" indent="0" algn="l">
              <a:lnSpc>
                <a:spcPts val="3220"/>
              </a:lnSpc>
              <a:spcBef>
                <a:spcPct val="0"/>
              </a:spcBef>
            </a:pPr>
            <a:r>
              <a:rPr lang="en-US" sz="2300" u="none" strike="noStrike">
                <a:solidFill>
                  <a:srgbClr val="011A3C"/>
                </a:solidFill>
                <a:latin typeface="Nunito"/>
                <a:ea typeface="Nunito"/>
                <a:cs typeface="Nunito"/>
                <a:sym typeface="Nunito"/>
              </a:rPr>
              <a:t>Presented by: Sulagna Basack</a:t>
            </a:r>
          </a:p>
          <a:p>
            <a:pPr marL="0" lvl="0" indent="0" algn="l">
              <a:lnSpc>
                <a:spcPts val="3220"/>
              </a:lnSpc>
              <a:spcBef>
                <a:spcPct val="0"/>
              </a:spcBef>
            </a:pPr>
            <a:r>
              <a:rPr lang="en-US" sz="2300" u="none" strike="noStrike">
                <a:solidFill>
                  <a:srgbClr val="011A3C"/>
                </a:solidFill>
                <a:latin typeface="Nunito"/>
                <a:ea typeface="Nunito"/>
                <a:cs typeface="Nunito"/>
                <a:sym typeface="Nunito"/>
              </a:rPr>
              <a:t>ID: 24EC10025</a:t>
            </a:r>
          </a:p>
        </p:txBody>
      </p:sp>
      <p:sp>
        <p:nvSpPr>
          <p:cNvPr id="19" name="TextBox 19"/>
          <p:cNvSpPr txBox="1"/>
          <p:nvPr/>
        </p:nvSpPr>
        <p:spPr>
          <a:xfrm>
            <a:off x="1631889" y="2133106"/>
            <a:ext cx="15185939" cy="2418716"/>
          </a:xfrm>
          <a:prstGeom prst="rect">
            <a:avLst/>
          </a:prstGeom>
        </p:spPr>
        <p:txBody>
          <a:bodyPr lIns="0" tIns="0" rIns="0" bIns="0" rtlCol="0" anchor="t">
            <a:spAutoFit/>
          </a:bodyPr>
          <a:lstStyle/>
          <a:p>
            <a:pPr marL="734055" lvl="1" indent="-367027" algn="l">
              <a:lnSpc>
                <a:spcPts val="4759"/>
              </a:lnSpc>
              <a:buFont typeface="Arial"/>
              <a:buChar char="•"/>
            </a:pPr>
            <a:r>
              <a:rPr lang="en-US" sz="3399">
                <a:solidFill>
                  <a:srgbClr val="011A3C"/>
                </a:solidFill>
                <a:latin typeface="Poppins Light"/>
                <a:ea typeface="Poppins Light"/>
                <a:cs typeface="Poppins Light"/>
                <a:sym typeface="Poppins Light"/>
              </a:rPr>
              <a:t>MAPE (Mean Absolute Percentage Error) and R2 score (1-(SS_res/SS_tot)) are used to compare the predicted values to the actual values of WAL for the 9 measuring locations.</a:t>
            </a:r>
          </a:p>
          <a:p>
            <a:pPr algn="l">
              <a:lnSpc>
                <a:spcPts val="4759"/>
              </a:lnSpc>
            </a:pPr>
            <a:endParaRPr lang="en-US" sz="3399">
              <a:solidFill>
                <a:srgbClr val="011A3C"/>
              </a:solidFill>
              <a:latin typeface="Poppins Light"/>
              <a:ea typeface="Poppins Light"/>
              <a:cs typeface="Poppins Light"/>
              <a:sym typeface="Poppins Light"/>
            </a:endParaRPr>
          </a:p>
        </p:txBody>
      </p:sp>
      <p:sp>
        <p:nvSpPr>
          <p:cNvPr id="20" name="TextBox 20"/>
          <p:cNvSpPr txBox="1"/>
          <p:nvPr/>
        </p:nvSpPr>
        <p:spPr>
          <a:xfrm>
            <a:off x="1631889" y="1037590"/>
            <a:ext cx="10875013" cy="723900"/>
          </a:xfrm>
          <a:prstGeom prst="rect">
            <a:avLst/>
          </a:prstGeom>
        </p:spPr>
        <p:txBody>
          <a:bodyPr lIns="0" tIns="0" rIns="0" bIns="0" rtlCol="0" anchor="t">
            <a:spAutoFit/>
          </a:bodyPr>
          <a:lstStyle/>
          <a:p>
            <a:pPr marL="0" lvl="0" indent="0" algn="l">
              <a:lnSpc>
                <a:spcPts val="5760"/>
              </a:lnSpc>
            </a:pPr>
            <a:r>
              <a:rPr lang="en-US" sz="4800" b="1" spc="72">
                <a:solidFill>
                  <a:srgbClr val="011A3C"/>
                </a:solidFill>
                <a:latin typeface="Gotham Bold"/>
                <a:ea typeface="Gotham Bold"/>
                <a:cs typeface="Gotham Bold"/>
                <a:sym typeface="Gotham Bold"/>
              </a:rPr>
              <a:t>MODEL VERIFICATION: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30768" y="4646344"/>
            <a:ext cx="5455035" cy="5106842"/>
            <a:chOff x="0" y="0"/>
            <a:chExt cx="596900" cy="558800"/>
          </a:xfrm>
        </p:grpSpPr>
        <p:sp>
          <p:nvSpPr>
            <p:cNvPr id="3" name="Freeform 3"/>
            <p:cNvSpPr/>
            <p:nvPr/>
          </p:nvSpPr>
          <p:spPr>
            <a:xfrm>
              <a:off x="0" y="0"/>
              <a:ext cx="596900" cy="558800"/>
            </a:xfrm>
            <a:custGeom>
              <a:avLst/>
              <a:gdLst/>
              <a:ahLst/>
              <a:cxnLst/>
              <a:rect l="l" t="t" r="r" b="b"/>
              <a:pathLst>
                <a:path w="596900" h="5588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id="4" name="TextBox 4"/>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14626760" y="5534027"/>
            <a:ext cx="2765738" cy="2589201"/>
            <a:chOff x="0" y="0"/>
            <a:chExt cx="596900" cy="558800"/>
          </a:xfrm>
        </p:grpSpPr>
        <p:sp>
          <p:nvSpPr>
            <p:cNvPr id="6" name="Freeform 6"/>
            <p:cNvSpPr/>
            <p:nvPr/>
          </p:nvSpPr>
          <p:spPr>
            <a:xfrm>
              <a:off x="0" y="0"/>
              <a:ext cx="596900" cy="558800"/>
            </a:xfrm>
            <a:custGeom>
              <a:avLst/>
              <a:gdLst/>
              <a:ahLst/>
              <a:cxnLst/>
              <a:rect l="l" t="t" r="r" b="b"/>
              <a:pathLst>
                <a:path w="596900" h="5588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id="7" name="TextBox 7"/>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400000">
            <a:off x="-201734" y="-1930066"/>
            <a:ext cx="6321001" cy="5917533"/>
            <a:chOff x="0" y="0"/>
            <a:chExt cx="596900" cy="558800"/>
          </a:xfrm>
        </p:grpSpPr>
        <p:sp>
          <p:nvSpPr>
            <p:cNvPr id="9" name="Freeform 9"/>
            <p:cNvSpPr/>
            <p:nvPr/>
          </p:nvSpPr>
          <p:spPr>
            <a:xfrm>
              <a:off x="0" y="0"/>
              <a:ext cx="596900" cy="558800"/>
            </a:xfrm>
            <a:custGeom>
              <a:avLst/>
              <a:gdLst/>
              <a:ahLst/>
              <a:cxnLst/>
              <a:rect l="l" t="t" r="r" b="b"/>
              <a:pathLst>
                <a:path w="596900" h="5588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id="10" name="TextBox 10"/>
            <p:cNvSpPr txBox="1"/>
            <p:nvPr/>
          </p:nvSpPr>
          <p:spPr>
            <a:xfrm>
              <a:off x="101600" y="9525"/>
              <a:ext cx="393700" cy="417195"/>
            </a:xfrm>
            <a:prstGeom prst="rect">
              <a:avLst/>
            </a:prstGeom>
          </p:spPr>
          <p:txBody>
            <a:bodyPr lIns="50800" tIns="50800" rIns="50800" bIns="50800" rtlCol="0" anchor="ctr"/>
            <a:lstStyle/>
            <a:p>
              <a:pPr algn="ctr">
                <a:lnSpc>
                  <a:spcPts val="6159"/>
                </a:lnSpc>
              </a:pPr>
              <a:endParaRPr/>
            </a:p>
          </p:txBody>
        </p:sp>
      </p:grpSp>
      <p:grpSp>
        <p:nvGrpSpPr>
          <p:cNvPr id="11" name="Group 11"/>
          <p:cNvGrpSpPr/>
          <p:nvPr/>
        </p:nvGrpSpPr>
        <p:grpSpPr>
          <a:xfrm rot="-10800000">
            <a:off x="13810359" y="-3147653"/>
            <a:ext cx="4531224" cy="4241997"/>
            <a:chOff x="0" y="0"/>
            <a:chExt cx="596900" cy="558800"/>
          </a:xfrm>
        </p:grpSpPr>
        <p:sp>
          <p:nvSpPr>
            <p:cNvPr id="12" name="Freeform 12"/>
            <p:cNvSpPr/>
            <p:nvPr/>
          </p:nvSpPr>
          <p:spPr>
            <a:xfrm>
              <a:off x="0" y="0"/>
              <a:ext cx="596900" cy="558800"/>
            </a:xfrm>
            <a:custGeom>
              <a:avLst/>
              <a:gdLst/>
              <a:ahLst/>
              <a:cxnLst/>
              <a:rect l="l" t="t" r="r" b="b"/>
              <a:pathLst>
                <a:path w="596900" h="5588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id="13" name="TextBox 13"/>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a:off x="9634197" y="543858"/>
            <a:ext cx="3762996" cy="3522804"/>
            <a:chOff x="0" y="0"/>
            <a:chExt cx="596900" cy="558800"/>
          </a:xfrm>
        </p:grpSpPr>
        <p:sp>
          <p:nvSpPr>
            <p:cNvPr id="15" name="Freeform 15"/>
            <p:cNvSpPr/>
            <p:nvPr/>
          </p:nvSpPr>
          <p:spPr>
            <a:xfrm>
              <a:off x="0" y="0"/>
              <a:ext cx="596900" cy="558800"/>
            </a:xfrm>
            <a:custGeom>
              <a:avLst/>
              <a:gdLst/>
              <a:ahLst/>
              <a:cxnLst/>
              <a:rect l="l" t="t" r="r" b="b"/>
              <a:pathLst>
                <a:path w="596900" h="5588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FE9710"/>
            </a:solidFill>
          </p:spPr>
        </p:sp>
        <p:sp>
          <p:nvSpPr>
            <p:cNvPr id="16" name="TextBox 16"/>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a:off x="15147937" y="1323502"/>
            <a:ext cx="2737867" cy="2563109"/>
            <a:chOff x="0" y="0"/>
            <a:chExt cx="596900" cy="558800"/>
          </a:xfrm>
        </p:grpSpPr>
        <p:sp>
          <p:nvSpPr>
            <p:cNvPr id="18" name="Freeform 18"/>
            <p:cNvSpPr/>
            <p:nvPr/>
          </p:nvSpPr>
          <p:spPr>
            <a:xfrm>
              <a:off x="0" y="0"/>
              <a:ext cx="596900" cy="558800"/>
            </a:xfrm>
            <a:custGeom>
              <a:avLst/>
              <a:gdLst/>
              <a:ahLst/>
              <a:cxnLst/>
              <a:rect l="l" t="t" r="r" b="b"/>
              <a:pathLst>
                <a:path w="596900" h="5588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id="19" name="TextBox 19"/>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5400000">
            <a:off x="9551409" y="7241939"/>
            <a:ext cx="2594035" cy="2428459"/>
            <a:chOff x="0" y="0"/>
            <a:chExt cx="596900" cy="558800"/>
          </a:xfrm>
        </p:grpSpPr>
        <p:sp>
          <p:nvSpPr>
            <p:cNvPr id="21" name="Freeform 21"/>
            <p:cNvSpPr/>
            <p:nvPr/>
          </p:nvSpPr>
          <p:spPr>
            <a:xfrm>
              <a:off x="0" y="0"/>
              <a:ext cx="596900" cy="558800"/>
            </a:xfrm>
            <a:custGeom>
              <a:avLst/>
              <a:gdLst/>
              <a:ahLst/>
              <a:cxnLst/>
              <a:rect l="l" t="t" r="r" b="b"/>
              <a:pathLst>
                <a:path w="596900" h="5588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FE9710"/>
            </a:solidFill>
          </p:spPr>
        </p:sp>
        <p:sp>
          <p:nvSpPr>
            <p:cNvPr id="22" name="TextBox 22"/>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flipV="1">
            <a:off x="16114192" y="8000901"/>
            <a:ext cx="1771612" cy="1752285"/>
          </a:xfrm>
          <a:custGeom>
            <a:avLst/>
            <a:gdLst/>
            <a:ahLst/>
            <a:cxnLst/>
            <a:rect l="l" t="t" r="r" b="b"/>
            <a:pathLst>
              <a:path w="1771612" h="1752285">
                <a:moveTo>
                  <a:pt x="0" y="1752285"/>
                </a:moveTo>
                <a:lnTo>
                  <a:pt x="1771611" y="1752285"/>
                </a:lnTo>
                <a:lnTo>
                  <a:pt x="1771611" y="0"/>
                </a:lnTo>
                <a:lnTo>
                  <a:pt x="0" y="0"/>
                </a:lnTo>
                <a:lnTo>
                  <a:pt x="0" y="175228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flipH="1">
            <a:off x="9634197" y="543858"/>
            <a:ext cx="1113115" cy="1100972"/>
          </a:xfrm>
          <a:custGeom>
            <a:avLst/>
            <a:gdLst/>
            <a:ahLst/>
            <a:cxnLst/>
            <a:rect l="l" t="t" r="r" b="b"/>
            <a:pathLst>
              <a:path w="1113115" h="1100972">
                <a:moveTo>
                  <a:pt x="1113115" y="0"/>
                </a:moveTo>
                <a:lnTo>
                  <a:pt x="0" y="0"/>
                </a:lnTo>
                <a:lnTo>
                  <a:pt x="0" y="1100972"/>
                </a:lnTo>
                <a:lnTo>
                  <a:pt x="1113115" y="1100972"/>
                </a:lnTo>
                <a:lnTo>
                  <a:pt x="111311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679654" y="9654723"/>
            <a:ext cx="1190212" cy="196926"/>
          </a:xfrm>
          <a:custGeom>
            <a:avLst/>
            <a:gdLst/>
            <a:ahLst/>
            <a:cxnLst/>
            <a:rect l="l" t="t" r="r" b="b"/>
            <a:pathLst>
              <a:path w="1190212" h="196926">
                <a:moveTo>
                  <a:pt x="0" y="0"/>
                </a:moveTo>
                <a:lnTo>
                  <a:pt x="1190211" y="0"/>
                </a:lnTo>
                <a:lnTo>
                  <a:pt x="1190211" y="196926"/>
                </a:lnTo>
                <a:lnTo>
                  <a:pt x="0" y="1969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4626760" y="693817"/>
            <a:ext cx="1190212" cy="196926"/>
          </a:xfrm>
          <a:custGeom>
            <a:avLst/>
            <a:gdLst/>
            <a:ahLst/>
            <a:cxnLst/>
            <a:rect l="l" t="t" r="r" b="b"/>
            <a:pathLst>
              <a:path w="1190212" h="196926">
                <a:moveTo>
                  <a:pt x="0" y="0"/>
                </a:moveTo>
                <a:lnTo>
                  <a:pt x="1190212" y="0"/>
                </a:lnTo>
                <a:lnTo>
                  <a:pt x="1190212" y="196926"/>
                </a:lnTo>
                <a:lnTo>
                  <a:pt x="0" y="1969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Freeform 27"/>
          <p:cNvSpPr/>
          <p:nvPr/>
        </p:nvSpPr>
        <p:spPr>
          <a:xfrm>
            <a:off x="13696665" y="9159837"/>
            <a:ext cx="1190212" cy="196926"/>
          </a:xfrm>
          <a:custGeom>
            <a:avLst/>
            <a:gdLst/>
            <a:ahLst/>
            <a:cxnLst/>
            <a:rect l="l" t="t" r="r" b="b"/>
            <a:pathLst>
              <a:path w="1190212" h="196926">
                <a:moveTo>
                  <a:pt x="0" y="0"/>
                </a:moveTo>
                <a:lnTo>
                  <a:pt x="1190211" y="0"/>
                </a:lnTo>
                <a:lnTo>
                  <a:pt x="1190211" y="196926"/>
                </a:lnTo>
                <a:lnTo>
                  <a:pt x="0" y="1969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8" name="TextBox 28"/>
          <p:cNvSpPr txBox="1"/>
          <p:nvPr/>
        </p:nvSpPr>
        <p:spPr>
          <a:xfrm>
            <a:off x="1274759" y="4200069"/>
            <a:ext cx="6530721" cy="2219325"/>
          </a:xfrm>
          <a:prstGeom prst="rect">
            <a:avLst/>
          </a:prstGeom>
        </p:spPr>
        <p:txBody>
          <a:bodyPr lIns="0" tIns="0" rIns="0" bIns="0" rtlCol="0" anchor="t">
            <a:spAutoFit/>
          </a:bodyPr>
          <a:lstStyle/>
          <a:p>
            <a:pPr marL="0" lvl="0" indent="0" algn="l">
              <a:lnSpc>
                <a:spcPts val="17522"/>
              </a:lnSpc>
            </a:pPr>
            <a:r>
              <a:rPr lang="en-US" sz="14601" b="1" spc="219">
                <a:solidFill>
                  <a:srgbClr val="011A3C"/>
                </a:solidFill>
                <a:latin typeface="Gotham Bold"/>
                <a:ea typeface="Gotham Bold"/>
                <a:cs typeface="Gotham Bold"/>
                <a:sym typeface="Gotham Bold"/>
              </a:rPr>
              <a:t>YOU</a:t>
            </a:r>
          </a:p>
        </p:txBody>
      </p:sp>
      <p:sp>
        <p:nvSpPr>
          <p:cNvPr id="29" name="TextBox 29"/>
          <p:cNvSpPr txBox="1"/>
          <p:nvPr/>
        </p:nvSpPr>
        <p:spPr>
          <a:xfrm>
            <a:off x="679654" y="2427019"/>
            <a:ext cx="8464346" cy="2219325"/>
          </a:xfrm>
          <a:prstGeom prst="rect">
            <a:avLst/>
          </a:prstGeom>
        </p:spPr>
        <p:txBody>
          <a:bodyPr lIns="0" tIns="0" rIns="0" bIns="0" rtlCol="0" anchor="t">
            <a:spAutoFit/>
          </a:bodyPr>
          <a:lstStyle/>
          <a:p>
            <a:pPr marL="0" lvl="0" indent="0" algn="l">
              <a:lnSpc>
                <a:spcPts val="17522"/>
              </a:lnSpc>
            </a:pPr>
            <a:r>
              <a:rPr lang="en-US" sz="14601" b="1" spc="219">
                <a:solidFill>
                  <a:srgbClr val="011A3C"/>
                </a:solidFill>
                <a:latin typeface="Gotham Bold"/>
                <a:ea typeface="Gotham Bold"/>
                <a:cs typeface="Gotham Bold"/>
                <a:sym typeface="Gotham Bold"/>
              </a:rPr>
              <a:t>THANK</a:t>
            </a:r>
          </a:p>
        </p:txBody>
      </p:sp>
      <p:grpSp>
        <p:nvGrpSpPr>
          <p:cNvPr id="30" name="Group 30"/>
          <p:cNvGrpSpPr/>
          <p:nvPr/>
        </p:nvGrpSpPr>
        <p:grpSpPr>
          <a:xfrm rot="5400000">
            <a:off x="2422549" y="6695956"/>
            <a:ext cx="6321001" cy="5917533"/>
            <a:chOff x="0" y="0"/>
            <a:chExt cx="596900" cy="558800"/>
          </a:xfrm>
        </p:grpSpPr>
        <p:sp>
          <p:nvSpPr>
            <p:cNvPr id="31" name="Freeform 31"/>
            <p:cNvSpPr/>
            <p:nvPr/>
          </p:nvSpPr>
          <p:spPr>
            <a:xfrm>
              <a:off x="0" y="0"/>
              <a:ext cx="596900" cy="558800"/>
            </a:xfrm>
            <a:custGeom>
              <a:avLst/>
              <a:gdLst/>
              <a:ahLst/>
              <a:cxnLst/>
              <a:rect l="l" t="t" r="r" b="b"/>
              <a:pathLst>
                <a:path w="596900" h="5588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id="32" name="TextBox 32"/>
            <p:cNvSpPr txBox="1"/>
            <p:nvPr/>
          </p:nvSpPr>
          <p:spPr>
            <a:xfrm>
              <a:off x="101600" y="76200"/>
              <a:ext cx="393700" cy="350520"/>
            </a:xfrm>
            <a:prstGeom prst="rect">
              <a:avLst/>
            </a:prstGeom>
          </p:spPr>
          <p:txBody>
            <a:bodyPr lIns="50800" tIns="50800" rIns="50800" bIns="50800" rtlCol="0" anchor="ctr"/>
            <a:lstStyle/>
            <a:p>
              <a:pPr algn="ctr">
                <a:lnSpc>
                  <a:spcPts val="322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1092</Words>
  <Application>Microsoft Office PowerPoint</Application>
  <PresentationFormat>Custom</PresentationFormat>
  <Paragraphs>112</Paragraphs>
  <Slides>11</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Gotham Bold</vt:lpstr>
      <vt:lpstr>Poppins Light</vt:lpstr>
      <vt:lpstr>Literata</vt:lpstr>
      <vt:lpstr>Poppins</vt:lpstr>
      <vt:lpstr>Nunito</vt:lpstr>
      <vt:lpstr>Poppins Bold</vt:lpstr>
      <vt:lpstr>Poppins Medium</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Implementation</dc:title>
  <cp:lastModifiedBy>Sulagna Basack</cp:lastModifiedBy>
  <cp:revision>3</cp:revision>
  <dcterms:created xsi:type="dcterms:W3CDTF">2006-08-16T00:00:00Z</dcterms:created>
  <dcterms:modified xsi:type="dcterms:W3CDTF">2026-03-26T18:20:58Z</dcterms:modified>
  <dc:identifier>DAHEy6Rxhk4</dc:identifier>
</cp:coreProperties>
</file>